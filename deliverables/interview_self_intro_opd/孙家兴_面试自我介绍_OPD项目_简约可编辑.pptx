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Sisyphe-lee/opd-baseline-repro" TargetMode="External"/><Relationship Id="rId3" Type="http://schemas.openxmlformats.org/officeDocument/2006/relationships/hyperlink" Target="https://github.com/jiaxingsunpku/SoftSat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arxiv.org/abs/2604.24005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320040"/>
            <a:ext cx="697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11F20"/>
                </a:solidFill>
                <a:latin typeface="Microsoft YaHei"/>
              </a:rPr>
              <a:t>孙家兴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822960"/>
            <a:ext cx="69799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16A6E"/>
                </a:solidFill>
                <a:latin typeface="Microsoft YaHei"/>
              </a:rPr>
              <a:t>北京大学智能学院 · 硕士研究生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87680" y="1295400"/>
            <a:ext cx="11216640" cy="0"/>
          </a:xfrm>
          <a:prstGeom prst="line">
            <a:avLst/>
          </a:prstGeom>
          <a:ln w="2540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7680" y="1638300"/>
            <a:ext cx="16764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0485B"/>
                </a:solidFill>
                <a:latin typeface="Aptos"/>
              </a:rPr>
              <a:t>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935480"/>
            <a:ext cx="477012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F20"/>
                </a:solidFill>
                <a:latin typeface="Microsoft YaHei"/>
              </a:rPr>
              <a:t>教育与研究方向</a:t>
            </a:r>
          </a:p>
        </p:txBody>
      </p:sp>
      <p:sp>
        <p:nvSpPr>
          <p:cNvPr id="7" name="Oval 6"/>
          <p:cNvSpPr/>
          <p:nvPr/>
        </p:nvSpPr>
        <p:spPr>
          <a:xfrm>
            <a:off x="487680" y="2484120"/>
            <a:ext cx="60960" cy="6096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20" y="2423160"/>
            <a:ext cx="45567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43033"/>
                </a:solidFill>
                <a:latin typeface="Microsoft YaHei"/>
              </a:rPr>
              <a:t>北京大学智能学院，硕士（2025.09—至今）</a:t>
            </a:r>
          </a:p>
        </p:txBody>
      </p:sp>
      <p:sp>
        <p:nvSpPr>
          <p:cNvPr id="9" name="Oval 8"/>
          <p:cNvSpPr/>
          <p:nvPr/>
        </p:nvSpPr>
        <p:spPr>
          <a:xfrm>
            <a:off x="487680" y="2842260"/>
            <a:ext cx="60960" cy="6096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20" y="2781300"/>
            <a:ext cx="45567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43033"/>
                </a:solidFill>
                <a:latin typeface="Microsoft YaHei"/>
              </a:rPr>
              <a:t>北京大学信息科学技术学院，本科</a:t>
            </a:r>
          </a:p>
        </p:txBody>
      </p:sp>
      <p:sp>
        <p:nvSpPr>
          <p:cNvPr id="11" name="Oval 10"/>
          <p:cNvSpPr/>
          <p:nvPr/>
        </p:nvSpPr>
        <p:spPr>
          <a:xfrm>
            <a:off x="487680" y="3200400"/>
            <a:ext cx="60960" cy="6096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20" y="3139440"/>
            <a:ext cx="45567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43033"/>
                </a:solidFill>
                <a:latin typeface="Microsoft YaHei"/>
              </a:rPr>
              <a:t>大模型后训练、Agentic Learning、采样与决策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91200" y="1676400"/>
            <a:ext cx="0" cy="198120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48400" y="1638300"/>
            <a:ext cx="16764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0485B"/>
                </a:solidFill>
                <a:latin typeface="Aptos"/>
              </a:rPr>
              <a:t>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193548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F20"/>
                </a:solidFill>
                <a:latin typeface="Microsoft YaHei"/>
              </a:rPr>
              <a:t>技术能力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400" y="2423160"/>
            <a:ext cx="502920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43033"/>
                </a:solidFill>
                <a:latin typeface="Microsoft YaHei"/>
              </a:rPr>
              <a:t>Python / PyTorch / veRL / vLLM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43033"/>
                </a:solidFill>
                <a:latin typeface="Microsoft YaHei"/>
              </a:rPr>
              <a:t>FSDP / Ray / ALFWorld / 自动评测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3246120"/>
            <a:ext cx="5029200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研究方法：可复现基线 · 机制诊断 · 配对评测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7680" y="3924300"/>
            <a:ext cx="11216640" cy="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7680" y="4175760"/>
            <a:ext cx="16764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0485B"/>
                </a:solidFill>
                <a:latin typeface="Aptos"/>
              </a:rPr>
              <a:t>CORE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" y="4472940"/>
            <a:ext cx="4846320" cy="281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F20"/>
                </a:solidFill>
                <a:latin typeface="Microsoft YaHei"/>
              </a:rPr>
              <a:t>01  熵自适应策略蒸馏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680" y="48387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16A6E"/>
                </a:solidFill>
                <a:latin typeface="Microsoft YaHei"/>
              </a:rPr>
              <a:t>为每条轨迹动态选择可靠蒸馏前缀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" y="5257800"/>
            <a:ext cx="1493520" cy="35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70485B"/>
                </a:solidFill>
                <a:latin typeface="Aptos"/>
              </a:rPr>
              <a:t>86.86%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364480"/>
            <a:ext cx="236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6A6E"/>
                </a:solidFill>
                <a:latin typeface="Aptos"/>
              </a:rPr>
              <a:t>ALFWorld full274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" y="5753100"/>
            <a:ext cx="14173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0485B"/>
                </a:solidFill>
                <a:latin typeface="Microsoft YaHei"/>
                <a:hlinkClick r:id="rId2"/>
              </a:rPr>
              <a:t>GitHub 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91200" y="4229100"/>
            <a:ext cx="0" cy="179070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48400" y="4472940"/>
            <a:ext cx="5029200" cy="281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F20"/>
                </a:solidFill>
                <a:latin typeface="Microsoft YaHei"/>
              </a:rPr>
              <a:t>02  SoftSat：采样失效修复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8387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16A6E"/>
                </a:solidFill>
                <a:latin typeface="Microsoft YaHei"/>
              </a:rPr>
              <a:t>解释 Power Sampling 失效并校准锐化强度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257800"/>
            <a:ext cx="1371600" cy="35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70485B"/>
                </a:solidFill>
                <a:latin typeface="Aptos"/>
              </a:rPr>
              <a:t>7.42×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6199" y="5364480"/>
            <a:ext cx="236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6A6E"/>
                </a:solidFill>
                <a:latin typeface="Microsoft YaHei"/>
              </a:rPr>
              <a:t>加权推理加速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400" y="5753100"/>
            <a:ext cx="1409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0485B"/>
                </a:solidFill>
                <a:latin typeface="Microsoft YaHei"/>
                <a:hlinkClick r:id="rId3"/>
              </a:rPr>
              <a:t>GitHub 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680" y="6339840"/>
            <a:ext cx="941832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6A6E"/>
                </a:solidFill>
                <a:latin typeface="Aptos"/>
              </a:rPr>
              <a:t>2501213407@stu.pku.edu.cn   ·   +86 188-1171-7335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49000" y="6431280"/>
            <a:ext cx="65532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28600"/>
            <a:ext cx="1121664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F20"/>
                </a:solidFill>
                <a:latin typeface="Microsoft YaHei"/>
              </a:rPr>
              <a:t>研究问题：长程交互使蒸馏监督逐步失真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87680" y="960120"/>
            <a:ext cx="11216640" cy="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49000" y="6431280"/>
            <a:ext cx="65532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02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80" y="1219200"/>
            <a:ext cx="1121664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F20"/>
                </a:solidFill>
                <a:latin typeface="Microsoft YaHei"/>
              </a:rPr>
              <a:t>早期动作不仅影响后续文本，还会直接改变环境状态。</a:t>
            </a:r>
          </a:p>
        </p:txBody>
      </p:sp>
      <p:sp>
        <p:nvSpPr>
          <p:cNvPr id="6" name="Oval 5"/>
          <p:cNvSpPr/>
          <p:nvPr/>
        </p:nvSpPr>
        <p:spPr>
          <a:xfrm>
            <a:off x="579120" y="2209800"/>
            <a:ext cx="411480" cy="41148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60" y="2164080"/>
            <a:ext cx="173736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F20"/>
                </a:solidFill>
                <a:latin typeface="Aptos"/>
              </a:rPr>
              <a:t>Student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60" y="2491740"/>
            <a:ext cx="1737360" cy="236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动作偏差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65120" y="2438400"/>
            <a:ext cx="335280" cy="0"/>
          </a:xfrm>
          <a:prstGeom prst="line">
            <a:avLst/>
          </a:prstGeom>
          <a:ln w="22860">
            <a:solidFill>
              <a:srgbClr val="9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3154680" y="2377440"/>
            <a:ext cx="121920" cy="121920"/>
          </a:xfrm>
          <a:prstGeom prst="triangle">
            <a:avLst/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29000" y="2209800"/>
            <a:ext cx="411480" cy="411480"/>
          </a:xfrm>
          <a:prstGeom prst="ellipse">
            <a:avLst/>
          </a:prstGeom>
          <a:solidFill>
            <a:srgbClr val="F4F0F2"/>
          </a:solidFill>
          <a:ln w="12700">
            <a:solidFill>
              <a:srgbClr val="7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2164080"/>
            <a:ext cx="173736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F20"/>
                </a:solidFill>
                <a:latin typeface="Aptos"/>
              </a:rPr>
              <a:t>State transition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491740"/>
            <a:ext cx="1737360" cy="236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状态改变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15000" y="2438400"/>
            <a:ext cx="335280" cy="0"/>
          </a:xfrm>
          <a:prstGeom prst="line">
            <a:avLst/>
          </a:prstGeom>
          <a:ln w="22860">
            <a:solidFill>
              <a:srgbClr val="9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04560" y="2377440"/>
            <a:ext cx="121920" cy="121920"/>
          </a:xfrm>
          <a:prstGeom prst="triangle">
            <a:avLst/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78880" y="2209800"/>
            <a:ext cx="411480" cy="411480"/>
          </a:xfrm>
          <a:prstGeom prst="ellipse">
            <a:avLst/>
          </a:prstGeom>
          <a:solidFill>
            <a:srgbClr val="F4F0F2"/>
          </a:solidFill>
          <a:ln w="12700">
            <a:solidFill>
              <a:srgbClr val="7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7520" y="2164080"/>
            <a:ext cx="173736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F20"/>
                </a:solidFill>
                <a:latin typeface="Aptos"/>
              </a:rPr>
              <a:t>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7520" y="2491740"/>
            <a:ext cx="1737360" cy="236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上下文漂移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64880" y="2438400"/>
            <a:ext cx="335280" cy="0"/>
          </a:xfrm>
          <a:prstGeom prst="line">
            <a:avLst/>
          </a:prstGeom>
          <a:ln w="22860">
            <a:solidFill>
              <a:srgbClr val="9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8854440" y="2377440"/>
            <a:ext cx="121920" cy="121920"/>
          </a:xfrm>
          <a:prstGeom prst="triangle">
            <a:avLst/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28760" y="2209800"/>
            <a:ext cx="411480" cy="411480"/>
          </a:xfrm>
          <a:prstGeom prst="ellipse">
            <a:avLst/>
          </a:prstGeom>
          <a:solidFill>
            <a:srgbClr val="F4F0F2"/>
          </a:solidFill>
          <a:ln w="12700">
            <a:solidFill>
              <a:srgbClr val="7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7400" y="2164080"/>
            <a:ext cx="173736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F20"/>
                </a:solidFill>
                <a:latin typeface="Aptos"/>
              </a:rPr>
              <a:t>Teacher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7400" y="2491740"/>
            <a:ext cx="1737360" cy="236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不确定性上升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7680" y="3276600"/>
            <a:ext cx="11216640" cy="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87680" y="3596640"/>
            <a:ext cx="16764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0485B"/>
                </a:solidFill>
                <a:latin typeface="Aptos"/>
              </a:rPr>
              <a:t>WHY IT MATTERS</a:t>
            </a:r>
          </a:p>
        </p:txBody>
      </p:sp>
      <p:sp>
        <p:nvSpPr>
          <p:cNvPr id="26" name="Oval 25"/>
          <p:cNvSpPr/>
          <p:nvPr/>
        </p:nvSpPr>
        <p:spPr>
          <a:xfrm>
            <a:off x="487680" y="4023360"/>
            <a:ext cx="60960" cy="6096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" y="3962399"/>
            <a:ext cx="107289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43033"/>
                </a:solidFill>
                <a:latin typeface="Microsoft YaHei"/>
              </a:rPr>
              <a:t>后半段的低质量 dense supervision 可能从帮助变成噪声。</a:t>
            </a:r>
          </a:p>
        </p:txBody>
      </p:sp>
      <p:sp>
        <p:nvSpPr>
          <p:cNvPr id="28" name="Oval 27"/>
          <p:cNvSpPr/>
          <p:nvPr/>
        </p:nvSpPr>
        <p:spPr>
          <a:xfrm>
            <a:off x="487680" y="4465320"/>
            <a:ext cx="60960" cy="6096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" y="4404360"/>
            <a:ext cx="107289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43033"/>
                </a:solidFill>
                <a:latin typeface="Microsoft YaHei"/>
              </a:rPr>
              <a:t>固定截断会同时错杀仍可学习的轨迹，并放过已经漂移的轨迹。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7680" y="5105400"/>
            <a:ext cx="11216640" cy="723900"/>
          </a:xfrm>
          <a:prstGeom prst="rect">
            <a:avLst/>
          </a:prstGeom>
          <a:solidFill>
            <a:srgbClr val="F4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1040" y="5288280"/>
            <a:ext cx="143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0485B"/>
                </a:solidFill>
                <a:latin typeface="Microsoft YaHei"/>
              </a:rPr>
              <a:t>核心问题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3600" y="5227320"/>
            <a:ext cx="9220200" cy="426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11F20"/>
                </a:solidFill>
                <a:latin typeface="Microsoft YaHei"/>
              </a:rPr>
              <a:t>能否为每条 trajectory 单独判断 Teacher 监督何时不再可靠？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28600"/>
            <a:ext cx="1121664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F20"/>
                </a:solidFill>
                <a:latin typeface="Microsoft YaHei"/>
              </a:rPr>
              <a:t>已有方法：TCOD 提升基线，但仍使用统一训练深度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87680" y="960120"/>
            <a:ext cx="11216640" cy="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49000" y="6431280"/>
            <a:ext cx="65532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03 / 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24300" y="1485900"/>
            <a:ext cx="0" cy="354330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60920" y="1485900"/>
            <a:ext cx="0" cy="354330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7680" y="1386840"/>
            <a:ext cx="16764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16A6E"/>
                </a:solidFill>
                <a:latin typeface="Aptos"/>
              </a:rPr>
              <a:t>VANILLA OPD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1752600"/>
            <a:ext cx="3093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11F20"/>
                </a:solidFill>
                <a:latin typeface="Microsoft YaHei"/>
              </a:rPr>
              <a:t>整条轨迹蒸馏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" y="2301240"/>
            <a:ext cx="309372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16A6E"/>
                </a:solidFill>
                <a:latin typeface="Microsoft YaHei"/>
              </a:rPr>
              <a:t>所有 turn 都进入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80" y="3276600"/>
            <a:ext cx="309372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9B7184"/>
                </a:solidFill>
                <a:latin typeface="Aptos"/>
              </a:rPr>
              <a:t>79.56%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3832860"/>
            <a:ext cx="3093720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6A6E"/>
                </a:solidFill>
                <a:latin typeface="Aptos"/>
              </a:rPr>
              <a:t>218 / 274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5300" y="1386840"/>
            <a:ext cx="16764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16A6E"/>
                </a:solidFill>
                <a:latin typeface="Aptos"/>
              </a:rPr>
              <a:t>TCOD-F2B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5300" y="1752600"/>
            <a:ext cx="27051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11F20"/>
                </a:solidFill>
                <a:latin typeface="Microsoft YaHei"/>
              </a:rPr>
              <a:t>逐步扩展 horizon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5300" y="2301240"/>
            <a:ext cx="270510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16A6E"/>
                </a:solidFill>
                <a:latin typeface="Microsoft YaHei"/>
              </a:rPr>
              <a:t>训练越深入，统一增加所有轨迹的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5300" y="3276600"/>
            <a:ext cx="27051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70485B"/>
                </a:solidFill>
                <a:latin typeface="Aptos"/>
              </a:rPr>
              <a:t>84.67%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5300" y="3832860"/>
            <a:ext cx="2705100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6A6E"/>
                </a:solidFill>
                <a:latin typeface="Aptos"/>
              </a:rPr>
              <a:t>232 / 274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1920" y="1386840"/>
            <a:ext cx="16764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0485B"/>
                </a:solidFill>
                <a:latin typeface="Aptos"/>
              </a:rPr>
              <a:t>LIMITATION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1920" y="1752600"/>
            <a:ext cx="3688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11F20"/>
                </a:solidFill>
                <a:latin typeface="Microsoft YaHei"/>
              </a:rPr>
              <a:t>全局 schedule</a:t>
            </a:r>
          </a:p>
        </p:txBody>
      </p:sp>
      <p:sp>
        <p:nvSpPr>
          <p:cNvPr id="19" name="Oval 18"/>
          <p:cNvSpPr/>
          <p:nvPr/>
        </p:nvSpPr>
        <p:spPr>
          <a:xfrm>
            <a:off x="7741920" y="2362200"/>
            <a:ext cx="60960" cy="6096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2301240"/>
            <a:ext cx="34518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43033"/>
                </a:solidFill>
                <a:latin typeface="Microsoft YaHei"/>
              </a:rPr>
              <a:t>同一阶段，所有轨迹使用相同 K</a:t>
            </a:r>
          </a:p>
        </p:txBody>
      </p:sp>
      <p:sp>
        <p:nvSpPr>
          <p:cNvPr id="21" name="Oval 20"/>
          <p:cNvSpPr/>
          <p:nvPr/>
        </p:nvSpPr>
        <p:spPr>
          <a:xfrm>
            <a:off x="7741920" y="2788920"/>
            <a:ext cx="60960" cy="6096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2727960"/>
            <a:ext cx="34518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43033"/>
                </a:solidFill>
                <a:latin typeface="Microsoft YaHei"/>
              </a:rPr>
              <a:t>无法感知每条轨迹的实际漂移时刻</a:t>
            </a:r>
          </a:p>
        </p:txBody>
      </p:sp>
      <p:sp>
        <p:nvSpPr>
          <p:cNvPr id="23" name="Oval 22"/>
          <p:cNvSpPr/>
          <p:nvPr/>
        </p:nvSpPr>
        <p:spPr>
          <a:xfrm>
            <a:off x="7741920" y="3215640"/>
            <a:ext cx="60960" cy="6096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3154680"/>
            <a:ext cx="34518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43033"/>
                </a:solidFill>
                <a:latin typeface="Microsoft YaHei"/>
              </a:rPr>
              <a:t>训练进度不能替代轨迹状态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80" y="5334000"/>
            <a:ext cx="11216640" cy="533400"/>
          </a:xfrm>
          <a:prstGeom prst="rect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040" y="5448300"/>
            <a:ext cx="10728960" cy="297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改进方向：从 global curriculum 转向 trajectory-specific loss selection。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680" y="6141720"/>
            <a:ext cx="347472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16A6E"/>
                </a:solidFill>
                <a:latin typeface="Microsoft YaHei"/>
                <a:hlinkClick r:id="rId2"/>
              </a:rPr>
              <a:t>TCOD · arXiv:2604.24005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28600"/>
            <a:ext cx="1121664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F20"/>
                </a:solidFill>
                <a:latin typeface="Microsoft YaHei"/>
              </a:rPr>
              <a:t>我们的想法：为每条轨迹定位可蒸馏边界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87680" y="960120"/>
            <a:ext cx="11216640" cy="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49000" y="6431280"/>
            <a:ext cx="65532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04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80" y="1219200"/>
            <a:ext cx="112166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F20"/>
                </a:solidFill>
                <a:latin typeface="Microsoft YaHei"/>
              </a:rPr>
              <a:t>使用 Teacher entropy 的相对漂移，而不是固定 turn 数。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4953000"/>
            <a:ext cx="5791200" cy="0"/>
          </a:xfrm>
          <a:prstGeom prst="line">
            <a:avLst/>
          </a:prstGeom>
          <a:ln w="12700">
            <a:solidFill>
              <a:srgbClr val="716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" y="2095499"/>
            <a:ext cx="0" cy="2857501"/>
          </a:xfrm>
          <a:prstGeom prst="line">
            <a:avLst/>
          </a:prstGeom>
          <a:ln w="12700">
            <a:solidFill>
              <a:srgbClr val="716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0599" y="3970020"/>
            <a:ext cx="640081" cy="71628"/>
          </a:xfrm>
          <a:prstGeom prst="line">
            <a:avLst/>
          </a:prstGeom>
          <a:ln w="3302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30680" y="3970020"/>
            <a:ext cx="640080" cy="35814"/>
          </a:xfrm>
          <a:prstGeom prst="line">
            <a:avLst/>
          </a:prstGeom>
          <a:ln w="3302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270760" y="3862577"/>
            <a:ext cx="640080" cy="143257"/>
          </a:xfrm>
          <a:prstGeom prst="line">
            <a:avLst/>
          </a:prstGeom>
          <a:ln w="3302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910840" y="3755136"/>
            <a:ext cx="640080" cy="107441"/>
          </a:xfrm>
          <a:prstGeom prst="line">
            <a:avLst/>
          </a:prstGeom>
          <a:ln w="3302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550920" y="3540252"/>
            <a:ext cx="640079" cy="214884"/>
          </a:xfrm>
          <a:prstGeom prst="line">
            <a:avLst/>
          </a:prstGeom>
          <a:ln w="3302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190999" y="3182112"/>
            <a:ext cx="640081" cy="358140"/>
          </a:xfrm>
          <a:prstGeom prst="line">
            <a:avLst/>
          </a:prstGeom>
          <a:ln w="3302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831080" y="2716530"/>
            <a:ext cx="640080" cy="465582"/>
          </a:xfrm>
          <a:prstGeom prst="line">
            <a:avLst/>
          </a:prstGeom>
          <a:ln w="3302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471160" y="2430018"/>
            <a:ext cx="640080" cy="286512"/>
          </a:xfrm>
          <a:prstGeom prst="line">
            <a:avLst/>
          </a:prstGeom>
          <a:ln w="3302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52500" y="4003547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92580" y="3931920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32660" y="3967734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72740" y="3824478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12820" y="3717036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52900" y="3502152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92980" y="3144012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33060" y="2678430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73140" y="2391918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831080" y="2133600"/>
            <a:ext cx="0" cy="2819400"/>
          </a:xfrm>
          <a:prstGeom prst="line">
            <a:avLst/>
          </a:prstGeom>
          <a:ln w="22860">
            <a:solidFill>
              <a:srgbClr val="9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922520" y="217170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0485B"/>
                </a:solidFill>
                <a:latin typeface="Cambria Math"/>
              </a:rPr>
              <a:t>frontier  fᵢ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" y="5105400"/>
            <a:ext cx="372618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0485B"/>
                </a:solidFill>
                <a:latin typeface="Microsoft YaHei"/>
              </a:rPr>
              <a:t>保留 loss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7280" y="5105400"/>
            <a:ext cx="156972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6A6E"/>
                </a:solidFill>
                <a:latin typeface="Microsoft YaHei"/>
              </a:rPr>
              <a:t>屏蔽 suffix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86600" y="1790700"/>
            <a:ext cx="0" cy="384810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543800" y="1828800"/>
            <a:ext cx="16764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0485B"/>
                </a:solidFill>
                <a:latin typeface="Aptos"/>
              </a:rPr>
              <a:t>ALGORITHM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2209800"/>
            <a:ext cx="37337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F20"/>
                </a:solidFill>
                <a:latin typeface="Microsoft YaHei"/>
              </a:rPr>
              <a:t>1  建立局部基线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2575560"/>
            <a:ext cx="3505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16A6E"/>
                </a:solidFill>
                <a:latin typeface="Cambria Math"/>
              </a:rPr>
              <a:t>首 3 turn：Bᵢ = ⅓ΣHᵢ,ₜ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3169920"/>
            <a:ext cx="37337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F20"/>
                </a:solidFill>
                <a:latin typeface="Microsoft YaHei"/>
              </a:rPr>
              <a:t>2  检测持续漂移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535680"/>
            <a:ext cx="350520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16A6E"/>
                </a:solidFill>
                <a:latin typeface="Microsoft YaHei"/>
              </a:rPr>
              <a:t>连续 3 turn 平均漂移 ≥ 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4221480"/>
            <a:ext cx="37337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F20"/>
                </a:solidFill>
                <a:latin typeface="Microsoft YaHei"/>
              </a:rPr>
              <a:t>3  选择训练前缀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587240"/>
            <a:ext cx="350520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16A6E"/>
                </a:solidFill>
                <a:latin typeface="Microsoft YaHei"/>
              </a:rPr>
              <a:t>仅保留 t &lt; fᵢ；无触发则保留完整轨迹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87680" y="5867400"/>
            <a:ext cx="11216640" cy="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87680" y="6080760"/>
            <a:ext cx="1121664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43033"/>
                </a:solidFill>
                <a:latin typeface="Microsoft YaHei"/>
              </a:rPr>
              <a:t>实验控制：完整 rollout 和 Teacher 评分不变，只改变进入 loss 的数据。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28600"/>
            <a:ext cx="1121664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F20"/>
                </a:solidFill>
                <a:latin typeface="Microsoft YaHei"/>
              </a:rPr>
              <a:t>实验结果：τ = 0.10 达到 86.86%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32460"/>
            <a:ext cx="11216640" cy="220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16A6E"/>
                </a:solidFill>
                <a:latin typeface="Microsoft YaHei"/>
              </a:rPr>
              <a:t>ALFWorld full274 · 250 steps · seed 42 · 同一评测协议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87680" y="960120"/>
            <a:ext cx="11216640" cy="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49000" y="6431280"/>
            <a:ext cx="65532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05 / 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38200" y="5334000"/>
            <a:ext cx="6019800" cy="0"/>
          </a:xfrm>
          <a:prstGeom prst="line">
            <a:avLst/>
          </a:prstGeom>
          <a:ln w="12700">
            <a:solidFill>
              <a:srgbClr val="716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371600" y="3731361"/>
            <a:ext cx="952500" cy="1602638"/>
          </a:xfrm>
          <a:prstGeom prst="rect">
            <a:avLst/>
          </a:prstGeom>
          <a:solidFill>
            <a:srgbClr val="D8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350361"/>
            <a:ext cx="1409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3033"/>
                </a:solidFill>
                <a:latin typeface="Aptos"/>
              </a:rPr>
              <a:t>79.56%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5486400"/>
            <a:ext cx="1562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6A6E"/>
                </a:solidFill>
                <a:latin typeface="Aptos"/>
              </a:rPr>
              <a:t>Vanilla OPD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500" y="2874721"/>
            <a:ext cx="952500" cy="2459278"/>
          </a:xfrm>
          <a:prstGeom prst="rect">
            <a:avLst/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09900" y="2493721"/>
            <a:ext cx="1409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3033"/>
                </a:solidFill>
                <a:latin typeface="Aptos"/>
              </a:rPr>
              <a:t>84.67%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3700" y="5486400"/>
            <a:ext cx="1562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6A6E"/>
                </a:solidFill>
                <a:latin typeface="Aptos"/>
              </a:rPr>
              <a:t>TCOD-F2B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5400" y="2507589"/>
            <a:ext cx="952500" cy="2826410"/>
          </a:xfrm>
          <a:prstGeom prst="rect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800" y="2126589"/>
            <a:ext cx="1409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0485B"/>
                </a:solidFill>
                <a:latin typeface="Aptos"/>
              </a:rPr>
              <a:t>86.86%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5486400"/>
            <a:ext cx="1562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16A6E"/>
                </a:solidFill>
                <a:latin typeface="Aptos"/>
              </a:rPr>
              <a:t>Entropy Adaptive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77100" y="1562100"/>
            <a:ext cx="0" cy="430530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34300" y="1562100"/>
            <a:ext cx="16764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0485B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4300" y="1943100"/>
            <a:ext cx="35433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70485B"/>
                </a:solidFill>
                <a:latin typeface="Aptos"/>
              </a:rPr>
              <a:t>+7.30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4300" y="2438400"/>
            <a:ext cx="3543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6A6E"/>
                </a:solidFill>
                <a:latin typeface="Aptos"/>
              </a:rPr>
              <a:t>vs Vanilla OPD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4300" y="3086100"/>
            <a:ext cx="35433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70485B"/>
                </a:solidFill>
                <a:latin typeface="Aptos"/>
              </a:rPr>
              <a:t>+2.19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4300" y="3581400"/>
            <a:ext cx="3543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6A6E"/>
                </a:solidFill>
                <a:latin typeface="Aptos"/>
              </a:rPr>
              <a:t>vs TCOD-F2B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4300" y="4328160"/>
            <a:ext cx="140970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6A6E"/>
                </a:solidFill>
                <a:latin typeface="Aptos"/>
              </a:rPr>
              <a:t>Seen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0" y="4229100"/>
            <a:ext cx="2057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11F20"/>
                </a:solidFill>
                <a:latin typeface="Aptos"/>
              </a:rPr>
              <a:t>87.86%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4300" y="4800600"/>
            <a:ext cx="140970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6A6E"/>
                </a:solidFill>
                <a:latin typeface="Aptos"/>
              </a:rPr>
              <a:t>Unseen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0200" y="4701540"/>
            <a:ext cx="2057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11F20"/>
                </a:solidFill>
                <a:latin typeface="Aptos"/>
              </a:rPr>
              <a:t>85.82%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7680" y="6057900"/>
            <a:ext cx="11216640" cy="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87680" y="6217920"/>
            <a:ext cx="10561320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16A6E"/>
                </a:solidFill>
                <a:latin typeface="Microsoft YaHei"/>
              </a:rPr>
              <a:t>阈值扫描  </a:t>
            </a:r>
            <a:r>
              <a:rPr sz="1050" b="0">
                <a:solidFill>
                  <a:srgbClr val="716A6E"/>
                </a:solidFill>
                <a:latin typeface="Aptos"/>
              </a:rPr>
              <a:t>τ=.05  81.75%   ·   τ=.075  80.29%   ·   </a:t>
            </a:r>
            <a:r>
              <a:rPr sz="1050" b="1">
                <a:solidFill>
                  <a:srgbClr val="70485B"/>
                </a:solidFill>
                <a:latin typeface="Aptos"/>
              </a:rPr>
              <a:t>τ=.10  86.86%</a:t>
            </a:r>
            <a:r>
              <a:rPr sz="1050" b="0">
                <a:solidFill>
                  <a:srgbClr val="716A6E"/>
                </a:solidFill>
                <a:latin typeface="Aptos"/>
              </a:rPr>
              <a:t>   ·   τ=.125  82.48%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28600"/>
            <a:ext cx="1121664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F20"/>
                </a:solidFill>
                <a:latin typeface="Microsoft YaHei"/>
              </a:rPr>
              <a:t>结论：自适应筛选在训练早期介入，后期自然退场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87680" y="960120"/>
            <a:ext cx="11216640" cy="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49000" y="6431280"/>
            <a:ext cx="65532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06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80" y="1447800"/>
            <a:ext cx="16764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0485B"/>
                </a:solidFill>
                <a:latin typeface="Aptos"/>
              </a:rPr>
              <a:t>TRAINING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866899"/>
            <a:ext cx="3322320" cy="495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70485B"/>
                </a:solidFill>
                <a:latin typeface="Aptos"/>
              </a:rPr>
              <a:t>48.0%  →  9.0%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2400300"/>
            <a:ext cx="3322320" cy="281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frontier 触发率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95800" y="1676400"/>
            <a:ext cx="0" cy="121920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81600" y="1866899"/>
            <a:ext cx="3352800" cy="495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70485B"/>
                </a:solidFill>
                <a:latin typeface="Aptos"/>
              </a:rPr>
              <a:t>20.0  →  28.2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1600" y="2400300"/>
            <a:ext cx="3352800" cy="281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平均可蒸馏 horizon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0200" y="1905000"/>
            <a:ext cx="228600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F20"/>
                </a:solidFill>
                <a:latin typeface="Microsoft YaHei"/>
              </a:rPr>
              <a:t>模型越成熟，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F20"/>
                </a:solidFill>
                <a:latin typeface="Microsoft YaHei"/>
              </a:rPr>
              <a:t>算法越少干预。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7680" y="3238500"/>
            <a:ext cx="11216640" cy="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7680" y="3566160"/>
            <a:ext cx="16764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0485B"/>
                </a:solidFill>
                <a:latin typeface="Aptos"/>
              </a:rPr>
              <a:t>TAKEAWAYS</a:t>
            </a:r>
          </a:p>
        </p:txBody>
      </p:sp>
      <p:sp>
        <p:nvSpPr>
          <p:cNvPr id="14" name="Oval 13"/>
          <p:cNvSpPr/>
          <p:nvPr/>
        </p:nvSpPr>
        <p:spPr>
          <a:xfrm>
            <a:off x="487680" y="4023360"/>
            <a:ext cx="60960" cy="6096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20" y="3962399"/>
            <a:ext cx="107289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3033"/>
                </a:solidFill>
                <a:latin typeface="Microsoft YaHei"/>
              </a:rPr>
              <a:t>相对熵漂移可以作为 trajectory-level 的可靠筛选信号。</a:t>
            </a:r>
          </a:p>
        </p:txBody>
      </p:sp>
      <p:sp>
        <p:nvSpPr>
          <p:cNvPr id="16" name="Oval 15"/>
          <p:cNvSpPr/>
          <p:nvPr/>
        </p:nvSpPr>
        <p:spPr>
          <a:xfrm>
            <a:off x="487680" y="4518660"/>
            <a:ext cx="60960" cy="6096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" y="4457700"/>
            <a:ext cx="107289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3033"/>
                </a:solidFill>
                <a:latin typeface="Microsoft YaHei"/>
              </a:rPr>
              <a:t>关键不是“熵越低越好”，而是过滤强度与长程状态覆盖的平衡。</a:t>
            </a:r>
          </a:p>
        </p:txBody>
      </p:sp>
      <p:sp>
        <p:nvSpPr>
          <p:cNvPr id="18" name="Oval 17"/>
          <p:cNvSpPr/>
          <p:nvPr/>
        </p:nvSpPr>
        <p:spPr>
          <a:xfrm>
            <a:off x="487680" y="5013960"/>
            <a:ext cx="60960" cy="6096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20" y="4953000"/>
            <a:ext cx="107289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43033"/>
                </a:solidFill>
                <a:latin typeface="Microsoft YaHei"/>
              </a:rPr>
              <a:t>最强证据来自 final checkpoint；后续需要多种子复测和连续加权。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80" y="5753100"/>
            <a:ext cx="11216640" cy="472440"/>
          </a:xfrm>
          <a:prstGeom prst="rect">
            <a:avLst/>
          </a:prstGeom>
          <a:solidFill>
            <a:srgbClr val="F4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040" y="5829300"/>
            <a:ext cx="10652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证据边界：对 TCOD 的 +2.19 pp 在单种子配对检验下尚不显著（McNemar p=.362）。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9325</Words>
  <Application>WPS 演示</Application>
  <PresentationFormat>Converted Presentation</PresentationFormat>
  <Paragraphs>702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0" baseType="lpstr">
      <vt:lpstr>Arial</vt:lpstr>
      <vt:lpstr>宋体</vt:lpstr>
      <vt:lpstr>Wingdings</vt:lpstr>
      <vt:lpstr>Calibri</vt:lpstr>
      <vt:lpstr>Helvetica Neue</vt:lpstr>
      <vt:lpstr>微软雅黑</vt:lpstr>
      <vt:lpstr>方正雅意黑 GB18030L2</vt:lpstr>
      <vt:lpstr>汉仪书宋二KW</vt:lpstr>
      <vt:lpstr>宋体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孙家兴｜面试自我介绍｜简约可编辑版</dc:title>
  <dc:creator>孙家兴</dc:creator>
  <cp:lastModifiedBy>＝.＝</cp:lastModifiedBy>
  <cp:revision>1</cp:revision>
  <dcterms:created xsi:type="dcterms:W3CDTF">2026-08-03T05:12:25Z</dcterms:created>
  <dcterms:modified xsi:type="dcterms:W3CDTF">2026-08-03T05:12:25Z</dcterms:modified>
  <dc:subject>Entropy-adaptive on-policy distillation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2052-12.1.26030.26030</vt:lpwstr>
  </property>
  <property fmtid="{D5CDD505-2E9C-101B-9397-08002B2CF9AE}" pid="3" name="ICV">
    <vt:lpwstr>E3481D11CBF10FC13923706A65DF26B2_42</vt:lpwstr>
  </property>
</Properties>
</file>