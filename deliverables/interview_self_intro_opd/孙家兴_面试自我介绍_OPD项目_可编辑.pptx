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999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github.com/Sisyphe-lee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github.com/Sisyphe-lee/opd-baseline-repro" TargetMode="External"/><Relationship Id="rId3" Type="http://schemas.openxmlformats.org/officeDocument/2006/relationships/hyperlink" Target="https://github.com/jiaxingsunpku/SoftSat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arxiv.org/abs/2604.24005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89560" cy="6858000"/>
          </a:xfrm>
          <a:prstGeom prst="rect">
            <a:avLst/>
          </a:prstGeom>
          <a:solidFill>
            <a:srgbClr val="704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296400" y="0"/>
            <a:ext cx="2895600" cy="6858000"/>
          </a:xfrm>
          <a:prstGeom prst="rect">
            <a:avLst/>
          </a:prstGeom>
          <a:solidFill>
            <a:srgbClr val="F4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06000" y="723900"/>
            <a:ext cx="1638300" cy="1638300"/>
          </a:xfrm>
          <a:prstGeom prst="ellipse">
            <a:avLst/>
          </a:prstGeom>
          <a:solidFill>
            <a:srgbClr val="704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06000" y="723900"/>
            <a:ext cx="1638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Aptos"/>
              </a:rPr>
              <a:t>SJX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6760" y="1295400"/>
            <a:ext cx="763524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00" b="1">
                <a:solidFill>
                  <a:srgbClr val="70485B"/>
                </a:solidFill>
                <a:latin typeface="Microsoft YaHei"/>
              </a:rPr>
              <a:t>孙家兴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6760" y="2148840"/>
            <a:ext cx="7635240" cy="480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211F20"/>
                </a:solidFill>
                <a:latin typeface="Microsoft YaHei"/>
              </a:rPr>
              <a:t>面试自我介绍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6760" y="2895600"/>
            <a:ext cx="771144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716A6E"/>
                </a:solidFill>
                <a:latin typeface="Microsoft YaHei"/>
              </a:rPr>
              <a:t>大模型后训练</a:t>
            </a:r>
            <a:r>
              <a:rPr sz="1700" b="0">
                <a:solidFill>
                  <a:srgbClr val="9B7184"/>
                </a:solidFill>
                <a:latin typeface="Aptos"/>
              </a:rPr>
              <a:t>  ·  </a:t>
            </a:r>
            <a:r>
              <a:rPr sz="1700" b="0">
                <a:solidFill>
                  <a:srgbClr val="716A6E"/>
                </a:solidFill>
                <a:latin typeface="Aptos"/>
              </a:rPr>
              <a:t>Agentic Learning</a:t>
            </a:r>
            <a:r>
              <a:rPr sz="1700" b="0">
                <a:solidFill>
                  <a:srgbClr val="9B7184"/>
                </a:solidFill>
                <a:latin typeface="Aptos"/>
              </a:rPr>
              <a:t>  ·  </a:t>
            </a:r>
            <a:r>
              <a:rPr sz="1700" b="0">
                <a:solidFill>
                  <a:srgbClr val="716A6E"/>
                </a:solidFill>
                <a:latin typeface="Microsoft YaHei"/>
              </a:rPr>
              <a:t>推理增强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46760" y="3642360"/>
            <a:ext cx="7254240" cy="0"/>
          </a:xfrm>
          <a:prstGeom prst="line">
            <a:avLst/>
          </a:prstGeom>
          <a:ln w="20320">
            <a:solidFill>
              <a:srgbClr val="D8D0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46760" y="3962399"/>
            <a:ext cx="611124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343033"/>
                </a:solidFill>
                <a:latin typeface="Microsoft YaHei"/>
              </a:rPr>
              <a:t>北京大学 · 智能学院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6760" y="4419600"/>
            <a:ext cx="611124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16A6E"/>
                </a:solidFill>
                <a:latin typeface="Aptos"/>
              </a:rPr>
              <a:t>M.S. Candidate  |  August 2026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77400" y="3048000"/>
            <a:ext cx="2133600" cy="487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77400" y="3048000"/>
            <a:ext cx="2133600" cy="487680"/>
          </a:xfrm>
          <a:prstGeom prst="rect">
            <a:avLst/>
          </a:prstGeom>
          <a:noFill/>
        </p:spPr>
        <p:txBody>
          <a:bodyPr wrap="square" lIns="15240" rIns="15240" tIns="15240" bIns="1524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0485B"/>
                </a:solidFill>
                <a:latin typeface="Microsoft YaHei"/>
              </a:rPr>
              <a:t>Research × Engineering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77400" y="3924300"/>
            <a:ext cx="2133600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43033"/>
                </a:solidFill>
                <a:latin typeface="Microsoft YaHei"/>
              </a:rPr>
              <a:t>从问题定义、可复现基线，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43033"/>
                </a:solidFill>
                <a:latin typeface="Microsoft YaHei"/>
              </a:rPr>
              <a:t>到机制诊断与完整评测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6760" y="6187440"/>
            <a:ext cx="611124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16A6E"/>
                </a:solidFill>
                <a:latin typeface="Aptos"/>
              </a:rPr>
              <a:t>2501213407@stu.pku.edu.cn  ·  +86 188-1171-7335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49000" y="6416040"/>
            <a:ext cx="701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16A6E"/>
                </a:solidFill>
                <a:latin typeface="Aptos"/>
              </a:rPr>
              <a:t>01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41960" y="190500"/>
            <a:ext cx="1130808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70485B"/>
                </a:solidFill>
                <a:latin typeface="Microsoft YaHei"/>
              </a:rPr>
              <a:t>基本信息：研究型算法工程与可验证实验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41960" y="868680"/>
            <a:ext cx="11308080" cy="0"/>
          </a:xfrm>
          <a:prstGeom prst="line">
            <a:avLst/>
          </a:prstGeom>
          <a:ln w="15240">
            <a:solidFill>
              <a:srgbClr val="D8D0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049000" y="6416040"/>
            <a:ext cx="701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16A6E"/>
                </a:solidFill>
                <a:latin typeface="Aptos"/>
              </a:rPr>
              <a:t>02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1960" y="1181100"/>
            <a:ext cx="3406140" cy="4914900"/>
          </a:xfrm>
          <a:prstGeom prst="roundRect">
            <a:avLst>
              <a:gd name="adj" fmla="val 12000"/>
            </a:avLst>
          </a:prstGeom>
          <a:solidFill>
            <a:srgbClr val="704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6280" y="1447800"/>
            <a:ext cx="2827020" cy="441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Microsoft YaHei"/>
              </a:rPr>
              <a:t>孙家兴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6280" y="2057400"/>
            <a:ext cx="282702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北京大学 · 智能学院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6280" y="2400300"/>
            <a:ext cx="282702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EE3E8"/>
                </a:solidFill>
                <a:latin typeface="Microsoft YaHei"/>
              </a:rPr>
              <a:t>硕士研究生（2025.09—至今）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16280" y="2834640"/>
            <a:ext cx="2827020" cy="0"/>
          </a:xfrm>
          <a:prstGeom prst="line">
            <a:avLst/>
          </a:prstGeom>
          <a:ln w="15240">
            <a:solidFill>
              <a:srgbClr val="9B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16280" y="3108960"/>
            <a:ext cx="28270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8D0D4"/>
                </a:solidFill>
                <a:latin typeface="Microsoft YaHei"/>
              </a:rPr>
              <a:t>教育背景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6280" y="3429000"/>
            <a:ext cx="282702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Microsoft YaHei"/>
              </a:rPr>
              <a:t>北京大学 · 信息科学技术学院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Microsoft YaHei"/>
              </a:rPr>
              <a:t>本科（2021.09—2025.06）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6280" y="4328160"/>
            <a:ext cx="28270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8D0D4"/>
                </a:solidFill>
                <a:latin typeface="Microsoft YaHei"/>
              </a:rPr>
              <a:t>联系方式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6280" y="4648200"/>
            <a:ext cx="28270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ptos"/>
              </a:rPr>
              <a:t>188-1171-7335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ptos"/>
              </a:rPr>
              <a:t>2501213407@stu.pku.edu.cn</a:t>
            </a:r>
          </a:p>
        </p:txBody>
      </p:sp>
      <p:sp>
        <p:nvSpPr>
          <p:cNvPr id="14" name="Rounded Rectangle 13">
            <a:hlinkClick r:id="rId2"/>
          </p:cNvPr>
          <p:cNvSpPr/>
          <p:nvPr/>
        </p:nvSpPr>
        <p:spPr>
          <a:xfrm>
            <a:off x="716280" y="5486400"/>
            <a:ext cx="1706880" cy="381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6280" y="5486400"/>
            <a:ext cx="1706880" cy="381000"/>
          </a:xfrm>
          <a:prstGeom prst="rect">
            <a:avLst/>
          </a:prstGeom>
          <a:noFill/>
        </p:spPr>
        <p:txBody>
          <a:bodyPr wrap="square" lIns="15240" rIns="15240" tIns="15240" bIns="1524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0485B"/>
                </a:solidFill>
                <a:latin typeface="Microsoft YaHei"/>
                <a:hlinkClick r:id="rId2"/>
              </a:rPr>
              <a:t>GitHub  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90999" y="1181100"/>
            <a:ext cx="3543300" cy="2171700"/>
          </a:xfrm>
          <a:prstGeom prst="roundRect">
            <a:avLst>
              <a:gd name="adj" fmla="val 12000"/>
            </a:avLst>
          </a:prstGeom>
          <a:solidFill>
            <a:srgbClr val="F4F0F2"/>
          </a:solidFill>
          <a:ln w="10160">
            <a:solidFill>
              <a:srgbClr val="D8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04360" y="1318260"/>
            <a:ext cx="317754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0485B"/>
                </a:solidFill>
                <a:latin typeface="Aptos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04360" y="1600200"/>
            <a:ext cx="317754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11F20"/>
                </a:solidFill>
                <a:latin typeface="Microsoft YaHei"/>
              </a:rPr>
              <a:t>研究方向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4360" y="2019300"/>
            <a:ext cx="3162300" cy="1196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16A6E"/>
                </a:solidFill>
                <a:latin typeface="Microsoft YaHei"/>
              </a:rPr>
              <a:t>在线策略蒸馏 · 长程 Agent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16A6E"/>
                </a:solidFill>
                <a:latin typeface="Microsoft YaHei"/>
              </a:rPr>
              <a:t>采样与多轨迹决策 · 自动评测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1181100"/>
            <a:ext cx="3749039" cy="2171700"/>
          </a:xfrm>
          <a:prstGeom prst="roundRect">
            <a:avLst>
              <a:gd name="adj" fmla="val 12000"/>
            </a:avLst>
          </a:prstGeom>
          <a:solidFill>
            <a:srgbClr val="E5EEE9"/>
          </a:solidFill>
          <a:ln w="10160">
            <a:solidFill>
              <a:srgbClr val="D8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14359" y="1318260"/>
            <a:ext cx="338328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15C4A"/>
                </a:solidFill>
                <a:latin typeface="Aptos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4359" y="1600200"/>
            <a:ext cx="338328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11F20"/>
                </a:solidFill>
                <a:latin typeface="Microsoft YaHei"/>
              </a:rPr>
              <a:t>训练与系统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14359" y="2019300"/>
            <a:ext cx="3368040" cy="1196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16A6E"/>
                </a:solidFill>
                <a:latin typeface="Microsoft YaHei"/>
              </a:rPr>
              <a:t>PyTorch · veRL · vLLM · FSDP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16A6E"/>
                </a:solidFill>
                <a:latin typeface="Microsoft YaHei"/>
              </a:rPr>
              <a:t>Ray · Tool Calling · JSONL artifacts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90999" y="3619500"/>
            <a:ext cx="3543300" cy="2476500"/>
          </a:xfrm>
          <a:prstGeom prst="roundRect">
            <a:avLst>
              <a:gd name="adj" fmla="val 12000"/>
            </a:avLst>
          </a:prstGeom>
          <a:solidFill>
            <a:srgbClr val="EEE3E8"/>
          </a:solidFill>
          <a:ln w="10160">
            <a:solidFill>
              <a:srgbClr val="D8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04360" y="3756660"/>
            <a:ext cx="317754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8C3E49"/>
                </a:solidFill>
                <a:latin typeface="Aptos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04360" y="4038600"/>
            <a:ext cx="317754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11F20"/>
                </a:solidFill>
                <a:latin typeface="Microsoft YaHei"/>
              </a:rPr>
              <a:t>我的工作方式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04360" y="4457700"/>
            <a:ext cx="3162300" cy="150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16A6E"/>
                </a:solidFill>
                <a:latin typeface="Microsoft YaHei"/>
              </a:rPr>
              <a:t>先冻结可比较的基线，再做诊断；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16A6E"/>
                </a:solidFill>
                <a:latin typeface="Microsoft YaHei"/>
              </a:rPr>
              <a:t>把每个提升拆成可证伪的假设。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01000" y="3619500"/>
            <a:ext cx="3749039" cy="2476500"/>
          </a:xfrm>
          <a:prstGeom prst="roundRect">
            <a:avLst>
              <a:gd name="adj" fmla="val 12000"/>
            </a:avLst>
          </a:prstGeom>
          <a:solidFill>
            <a:srgbClr val="F4F0F2"/>
          </a:solidFill>
          <a:ln w="10160">
            <a:solidFill>
              <a:srgbClr val="D8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14359" y="3756660"/>
            <a:ext cx="338328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0485B"/>
                </a:solidFill>
                <a:latin typeface="Aptos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14359" y="4038600"/>
            <a:ext cx="338328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11F20"/>
                </a:solidFill>
                <a:latin typeface="Microsoft YaHei"/>
              </a:rPr>
              <a:t>相关经历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14359" y="4457700"/>
            <a:ext cx="3368040" cy="150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16A6E"/>
                </a:solidFill>
                <a:latin typeface="Microsoft YaHei"/>
              </a:rPr>
              <a:t>大模型蒸馏、代码 Agent、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16A6E"/>
                </a:solidFill>
                <a:latin typeface="Microsoft YaHei"/>
              </a:rPr>
              <a:t>PPO / MAPPO 多智能体控制。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41960" y="190500"/>
            <a:ext cx="1130808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70485B"/>
                </a:solidFill>
                <a:latin typeface="Microsoft YaHei"/>
              </a:rPr>
              <a:t>两项核心研究：从数据机制到决策机制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41960" y="868680"/>
            <a:ext cx="11308080" cy="0"/>
          </a:xfrm>
          <a:prstGeom prst="line">
            <a:avLst/>
          </a:prstGeom>
          <a:ln w="15240">
            <a:solidFill>
              <a:srgbClr val="D8D0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049000" y="6416040"/>
            <a:ext cx="701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16A6E"/>
                </a:solidFill>
                <a:latin typeface="Aptos"/>
              </a:rPr>
              <a:t>03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1960" y="1082040"/>
            <a:ext cx="11308080" cy="289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43033"/>
                </a:solidFill>
                <a:latin typeface="Microsoft YaHei"/>
              </a:rPr>
              <a:t>共同主线：不是只追求一个更高分，而是解释模型为什么失效、什么信号能修复。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1960" y="1676400"/>
            <a:ext cx="5463540" cy="3977639"/>
          </a:xfrm>
          <a:prstGeom prst="roundRect">
            <a:avLst>
              <a:gd name="adj" fmla="val 12000"/>
            </a:avLst>
          </a:prstGeom>
          <a:solidFill>
            <a:srgbClr val="F4F0F2"/>
          </a:solidFill>
          <a:ln w="22860">
            <a:solidFill>
              <a:srgbClr val="704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01040" y="1920240"/>
            <a:ext cx="1242060" cy="381000"/>
          </a:xfrm>
          <a:prstGeom prst="roundRect">
            <a:avLst>
              <a:gd name="adj" fmla="val 12000"/>
            </a:avLst>
          </a:prstGeom>
          <a:solidFill>
            <a:srgbClr val="704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1040" y="1920240"/>
            <a:ext cx="1242060" cy="381000"/>
          </a:xfrm>
          <a:prstGeom prst="rect">
            <a:avLst/>
          </a:prstGeom>
          <a:noFill/>
        </p:spPr>
        <p:txBody>
          <a:bodyPr wrap="square" lIns="15240" rIns="15240" tIns="15240" bIns="1524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PROJECT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1040" y="2590800"/>
            <a:ext cx="4785360" cy="39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70485B"/>
                </a:solidFill>
                <a:latin typeface="Microsoft YaHei"/>
              </a:rPr>
              <a:t>熵自适应策略蒸馏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1040" y="3078480"/>
            <a:ext cx="4785360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16A6E"/>
                </a:solidFill>
                <a:latin typeface="Aptos"/>
              </a:rPr>
              <a:t>Agentic OPD / ALFWorld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01040" y="3505200"/>
            <a:ext cx="4785360" cy="0"/>
          </a:xfrm>
          <a:prstGeom prst="line">
            <a:avLst/>
          </a:prstGeom>
          <a:ln w="12700">
            <a:solidFill>
              <a:srgbClr val="D8D0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01040" y="3779520"/>
            <a:ext cx="48006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0485B"/>
                </a:solidFill>
                <a:latin typeface="Microsoft YaHei"/>
              </a:rPr>
              <a:t>问题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10640" y="3779520"/>
            <a:ext cx="417576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43033"/>
                </a:solidFill>
                <a:latin typeface="Microsoft YaHei"/>
              </a:rPr>
              <a:t>固定 horizon 无法判断每条轨迹何时开始漂移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1040" y="4206240"/>
            <a:ext cx="48006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0485B"/>
                </a:solidFill>
                <a:latin typeface="Microsoft YaHei"/>
              </a:rPr>
              <a:t>想法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10640" y="4206240"/>
            <a:ext cx="417576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43033"/>
                </a:solidFill>
                <a:latin typeface="Microsoft YaHei"/>
              </a:rPr>
              <a:t>以教师熵的相对变化定位 distillable frontier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1040" y="4709160"/>
            <a:ext cx="14706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8C3E49"/>
                </a:solidFill>
                <a:latin typeface="Aptos"/>
              </a:rPr>
              <a:t>86.86%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486156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16A6E"/>
                </a:solidFill>
                <a:latin typeface="Aptos"/>
              </a:rPr>
              <a:t>ALFWorld full274</a:t>
            </a:r>
          </a:p>
        </p:txBody>
      </p:sp>
      <p:sp>
        <p:nvSpPr>
          <p:cNvPr id="18" name="Rounded Rectangle 17">
            <a:hlinkClick r:id="rId2"/>
          </p:cNvPr>
          <p:cNvSpPr/>
          <p:nvPr/>
        </p:nvSpPr>
        <p:spPr>
          <a:xfrm>
            <a:off x="4236720" y="5044440"/>
            <a:ext cx="1249680" cy="381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36720" y="5044440"/>
            <a:ext cx="1249680" cy="381000"/>
          </a:xfrm>
          <a:prstGeom prst="rect">
            <a:avLst/>
          </a:prstGeom>
          <a:noFill/>
        </p:spPr>
        <p:txBody>
          <a:bodyPr wrap="square" lIns="15240" rIns="15240" tIns="15240" bIns="1524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0485B"/>
                </a:solidFill>
                <a:latin typeface="Microsoft YaHei"/>
                <a:hlinkClick r:id="rId2"/>
              </a:rPr>
              <a:t>GitHub  ↗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86500" y="1676400"/>
            <a:ext cx="5463540" cy="3977639"/>
          </a:xfrm>
          <a:prstGeom prst="roundRect">
            <a:avLst>
              <a:gd name="adj" fmla="val 12000"/>
            </a:avLst>
          </a:prstGeom>
          <a:solidFill>
            <a:srgbClr val="E5EEE9"/>
          </a:solidFill>
          <a:ln w="22860">
            <a:solidFill>
              <a:srgbClr val="315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45580" y="1920240"/>
            <a:ext cx="1242060" cy="381000"/>
          </a:xfrm>
          <a:prstGeom prst="roundRect">
            <a:avLst>
              <a:gd name="adj" fmla="val 12000"/>
            </a:avLst>
          </a:prstGeom>
          <a:solidFill>
            <a:srgbClr val="315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45580" y="1920240"/>
            <a:ext cx="1242060" cy="381000"/>
          </a:xfrm>
          <a:prstGeom prst="rect">
            <a:avLst/>
          </a:prstGeom>
          <a:noFill/>
        </p:spPr>
        <p:txBody>
          <a:bodyPr wrap="square" lIns="15240" rIns="15240" tIns="15240" bIns="1524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PROJECT 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45580" y="2590800"/>
            <a:ext cx="4785360" cy="39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315C4A"/>
                </a:solidFill>
                <a:latin typeface="Microsoft YaHei"/>
              </a:rPr>
              <a:t>SoftSat：采样失效修复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45580" y="3078480"/>
            <a:ext cx="4785360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16A6E"/>
                </a:solidFill>
                <a:latin typeface="Aptos"/>
              </a:rPr>
              <a:t>Power Sampling / Self-Consistency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545580" y="3505200"/>
            <a:ext cx="4785360" cy="0"/>
          </a:xfrm>
          <a:prstGeom prst="line">
            <a:avLst/>
          </a:prstGeom>
          <a:ln w="12700">
            <a:solidFill>
              <a:srgbClr val="C7D9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545580" y="3779520"/>
            <a:ext cx="48006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15C4A"/>
                </a:solidFill>
                <a:latin typeface="Microsoft YaHei"/>
              </a:rPr>
              <a:t>问题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55180" y="3779520"/>
            <a:ext cx="417576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43033"/>
                </a:solidFill>
                <a:latin typeface="Microsoft YaHei"/>
              </a:rPr>
              <a:t>轨迹质量提高，不等于多轨迹决策更可靠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45580" y="4206240"/>
            <a:ext cx="48006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15C4A"/>
                </a:solidFill>
                <a:latin typeface="Microsoft YaHei"/>
              </a:rPr>
              <a:t>想法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55180" y="4206240"/>
            <a:ext cx="417576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43033"/>
                </a:solidFill>
                <a:latin typeface="Microsoft YaHei"/>
              </a:rPr>
              <a:t>Relative-Rank SoftSat 校准锐化强度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45580" y="4709160"/>
            <a:ext cx="12877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315C4A"/>
                </a:solidFill>
                <a:latin typeface="Aptos"/>
              </a:rPr>
              <a:t>7.42×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24799" y="4861560"/>
            <a:ext cx="1600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16A6E"/>
                </a:solidFill>
                <a:latin typeface="Microsoft YaHei"/>
              </a:rPr>
              <a:t>加权推理加速</a:t>
            </a:r>
          </a:p>
        </p:txBody>
      </p:sp>
      <p:sp>
        <p:nvSpPr>
          <p:cNvPr id="32" name="Rounded Rectangle 31">
            <a:hlinkClick r:id="rId3"/>
          </p:cNvPr>
          <p:cNvSpPr/>
          <p:nvPr/>
        </p:nvSpPr>
        <p:spPr>
          <a:xfrm>
            <a:off x="10081260" y="5044440"/>
            <a:ext cx="1249680" cy="381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81260" y="5044440"/>
            <a:ext cx="1249680" cy="381000"/>
          </a:xfrm>
          <a:prstGeom prst="rect">
            <a:avLst/>
          </a:prstGeom>
          <a:noFill/>
        </p:spPr>
        <p:txBody>
          <a:bodyPr wrap="square" lIns="15240" rIns="15240" tIns="15240" bIns="1524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15C4A"/>
                </a:solidFill>
                <a:latin typeface="Microsoft YaHei"/>
                <a:hlinkClick r:id="rId3"/>
              </a:rPr>
              <a:t>GitHub  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1960" y="6362700"/>
            <a:ext cx="9845040" cy="220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16A6E"/>
                </a:solidFill>
                <a:latin typeface="Microsoft YaHei"/>
              </a:rPr>
              <a:t>本文件完整展开项目一，并在项目二正文开始前结束。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04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8C3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3440" y="1485900"/>
            <a:ext cx="1054608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D8D0D4"/>
                </a:solidFill>
                <a:latin typeface="Aptos"/>
              </a:rPr>
              <a:t>RESEARCH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40" y="2194560"/>
            <a:ext cx="10546080" cy="624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Microsoft YaHei"/>
              </a:rPr>
              <a:t>熵自适应策略蒸馏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440" y="3086100"/>
            <a:ext cx="1054608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EEE3E8"/>
                </a:solidFill>
                <a:latin typeface="Microsoft YaHei"/>
              </a:rPr>
              <a:t>为每条 Agent trajectory 找到自己的可蒸馏边界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2480" y="4175760"/>
            <a:ext cx="10607040" cy="1203960"/>
          </a:xfrm>
          <a:prstGeom prst="roundRect">
            <a:avLst>
              <a:gd name="adj" fmla="val 12000"/>
            </a:avLst>
          </a:prstGeom>
          <a:solidFill>
            <a:srgbClr val="654052"/>
          </a:solidFill>
          <a:ln w="12700">
            <a:solidFill>
              <a:srgbClr val="9B7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6800" y="4419600"/>
            <a:ext cx="1219200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8D0D4"/>
                </a:solidFill>
                <a:latin typeface="Microsoft YaHei"/>
              </a:rPr>
              <a:t>核心问题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800" y="4754880"/>
            <a:ext cx="9982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Microsoft YaHei"/>
              </a:rPr>
              <a:t>Teacher 的监督并非在整条交互轨迹上都同样可靠。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0" y="6416040"/>
            <a:ext cx="701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D8D0D4"/>
                </a:solidFill>
                <a:latin typeface="Aptos"/>
              </a:rP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41960" y="190500"/>
            <a:ext cx="1130808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70485B"/>
                </a:solidFill>
                <a:latin typeface="Microsoft YaHei"/>
              </a:rPr>
              <a:t>问题背景：Agentic OPD 会把局部偏差放大成状态漂移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41960" y="868680"/>
            <a:ext cx="11308080" cy="0"/>
          </a:xfrm>
          <a:prstGeom prst="line">
            <a:avLst/>
          </a:prstGeom>
          <a:ln w="15240">
            <a:solidFill>
              <a:srgbClr val="D8D0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049000" y="6416040"/>
            <a:ext cx="701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16A6E"/>
                </a:solidFill>
                <a:latin typeface="Aptos"/>
              </a:rPr>
              <a:t>05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1960" y="1066800"/>
            <a:ext cx="1130808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43033"/>
                </a:solidFill>
                <a:latin typeface="Microsoft YaHei"/>
              </a:rPr>
              <a:t>在推理题里，错误主要污染后续 token；在交互环境里，动作还会改变下一时刻的世界状态。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05000"/>
            <a:ext cx="1706880" cy="1638300"/>
          </a:xfrm>
          <a:prstGeom prst="roundRect">
            <a:avLst>
              <a:gd name="adj" fmla="val 12000"/>
            </a:avLst>
          </a:prstGeom>
          <a:solidFill>
            <a:srgbClr val="F4F0F2"/>
          </a:solidFill>
          <a:ln w="12700">
            <a:solidFill>
              <a:srgbClr val="D8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34440" y="2110740"/>
            <a:ext cx="518160" cy="518160"/>
          </a:xfrm>
          <a:prstGeom prst="ellipse">
            <a:avLst/>
          </a:prstGeom>
          <a:solidFill>
            <a:srgbClr val="704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110740"/>
            <a:ext cx="518160" cy="518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" y="2819400"/>
            <a:ext cx="147828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0485B"/>
                </a:solidFill>
                <a:latin typeface="Aptos"/>
              </a:rPr>
              <a:t>Student 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" y="3185160"/>
            <a:ext cx="147828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43033"/>
                </a:solidFill>
                <a:latin typeface="Microsoft YaHei"/>
              </a:rPr>
              <a:t>早期动作偏差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430780" y="2720340"/>
            <a:ext cx="228600" cy="0"/>
          </a:xfrm>
          <a:prstGeom prst="line">
            <a:avLst/>
          </a:prstGeom>
          <a:ln w="27940">
            <a:solidFill>
              <a:srgbClr val="9B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11"/>
          <p:cNvSpPr/>
          <p:nvPr/>
        </p:nvSpPr>
        <p:spPr>
          <a:xfrm rot="5400000">
            <a:off x="2613660" y="2651760"/>
            <a:ext cx="137160" cy="137160"/>
          </a:xfrm>
          <a:prstGeom prst="triangle">
            <a:avLst/>
          </a:prstGeom>
          <a:solidFill>
            <a:srgbClr val="9B7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10840" y="1905000"/>
            <a:ext cx="1706880" cy="1638300"/>
          </a:xfrm>
          <a:prstGeom prst="roundRect">
            <a:avLst>
              <a:gd name="adj" fmla="val 12000"/>
            </a:avLst>
          </a:prstGeom>
          <a:solidFill>
            <a:srgbClr val="F4F0F2"/>
          </a:solidFill>
          <a:ln w="12700">
            <a:solidFill>
              <a:srgbClr val="D8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05200" y="2110740"/>
            <a:ext cx="518160" cy="518160"/>
          </a:xfrm>
          <a:prstGeom prst="ellipse">
            <a:avLst/>
          </a:prstGeom>
          <a:solidFill>
            <a:srgbClr val="704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05200" y="2110740"/>
            <a:ext cx="518160" cy="518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25140" y="2819400"/>
            <a:ext cx="147828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0485B"/>
                </a:solidFill>
                <a:latin typeface="Aptos"/>
              </a:rPr>
              <a:t>Environment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25140" y="3185160"/>
            <a:ext cx="147828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43033"/>
                </a:solidFill>
                <a:latin typeface="Microsoft YaHei"/>
              </a:rPr>
              <a:t>状态发生改变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701540" y="2720340"/>
            <a:ext cx="228600" cy="0"/>
          </a:xfrm>
          <a:prstGeom prst="line">
            <a:avLst/>
          </a:prstGeom>
          <a:ln w="27940">
            <a:solidFill>
              <a:srgbClr val="9B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Isosceles Triangle 18"/>
          <p:cNvSpPr/>
          <p:nvPr/>
        </p:nvSpPr>
        <p:spPr>
          <a:xfrm rot="5400000">
            <a:off x="4884420" y="2651760"/>
            <a:ext cx="137160" cy="137160"/>
          </a:xfrm>
          <a:prstGeom prst="triangle">
            <a:avLst/>
          </a:prstGeom>
          <a:solidFill>
            <a:srgbClr val="9B7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181600" y="1905000"/>
            <a:ext cx="1706880" cy="1638300"/>
          </a:xfrm>
          <a:prstGeom prst="roundRect">
            <a:avLst>
              <a:gd name="adj" fmla="val 12000"/>
            </a:avLst>
          </a:prstGeom>
          <a:solidFill>
            <a:srgbClr val="F4F0F2"/>
          </a:solidFill>
          <a:ln w="12700">
            <a:solidFill>
              <a:srgbClr val="D8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75960" y="2110740"/>
            <a:ext cx="518160" cy="518160"/>
          </a:xfrm>
          <a:prstGeom prst="ellipse">
            <a:avLst/>
          </a:prstGeom>
          <a:solidFill>
            <a:srgbClr val="704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75960" y="2110740"/>
            <a:ext cx="518160" cy="518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95900" y="2819400"/>
            <a:ext cx="147828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0485B"/>
                </a:solidFill>
                <a:latin typeface="Aptos"/>
              </a:rPr>
              <a:t>Observation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95900" y="3185160"/>
            <a:ext cx="147828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43033"/>
                </a:solidFill>
                <a:latin typeface="Microsoft YaHei"/>
              </a:rPr>
              <a:t>后续上下文漂移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972300" y="2720340"/>
            <a:ext cx="228600" cy="0"/>
          </a:xfrm>
          <a:prstGeom prst="line">
            <a:avLst/>
          </a:prstGeom>
          <a:ln w="27940">
            <a:solidFill>
              <a:srgbClr val="9B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Isosceles Triangle 25"/>
          <p:cNvSpPr/>
          <p:nvPr/>
        </p:nvSpPr>
        <p:spPr>
          <a:xfrm rot="5400000">
            <a:off x="7155180" y="2651760"/>
            <a:ext cx="137160" cy="137160"/>
          </a:xfrm>
          <a:prstGeom prst="triangle">
            <a:avLst/>
          </a:prstGeom>
          <a:solidFill>
            <a:srgbClr val="9B7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452360" y="1905000"/>
            <a:ext cx="1706880" cy="1638300"/>
          </a:xfrm>
          <a:prstGeom prst="roundRect">
            <a:avLst>
              <a:gd name="adj" fmla="val 12000"/>
            </a:avLst>
          </a:prstGeom>
          <a:solidFill>
            <a:srgbClr val="EEE3E8"/>
          </a:solidFill>
          <a:ln w="12700">
            <a:solidFill>
              <a:srgbClr val="D8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046720" y="2110740"/>
            <a:ext cx="518160" cy="518160"/>
          </a:xfrm>
          <a:prstGeom prst="ellipse">
            <a:avLst/>
          </a:prstGeom>
          <a:solidFill>
            <a:srgbClr val="8C3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0" y="2110740"/>
            <a:ext cx="518160" cy="518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66660" y="2819400"/>
            <a:ext cx="147828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C3E49"/>
                </a:solidFill>
                <a:latin typeface="Aptos"/>
              </a:rPr>
              <a:t>Teacher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66660" y="3185160"/>
            <a:ext cx="147828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43033"/>
                </a:solidFill>
                <a:latin typeface="Microsoft YaHei"/>
              </a:rPr>
              <a:t>进入陌生支持集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243060" y="2720340"/>
            <a:ext cx="228600" cy="0"/>
          </a:xfrm>
          <a:prstGeom prst="line">
            <a:avLst/>
          </a:prstGeom>
          <a:ln w="27940">
            <a:solidFill>
              <a:srgbClr val="9B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Isosceles Triangle 32"/>
          <p:cNvSpPr/>
          <p:nvPr/>
        </p:nvSpPr>
        <p:spPr>
          <a:xfrm rot="5400000">
            <a:off x="9425940" y="2651760"/>
            <a:ext cx="137160" cy="137160"/>
          </a:xfrm>
          <a:prstGeom prst="triangle">
            <a:avLst/>
          </a:prstGeom>
          <a:solidFill>
            <a:srgbClr val="9B7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723120" y="1905000"/>
            <a:ext cx="1706880" cy="1638300"/>
          </a:xfrm>
          <a:prstGeom prst="roundRect">
            <a:avLst>
              <a:gd name="adj" fmla="val 12000"/>
            </a:avLst>
          </a:prstGeom>
          <a:solidFill>
            <a:srgbClr val="EEE3E8"/>
          </a:solidFill>
          <a:ln w="12700">
            <a:solidFill>
              <a:srgbClr val="D8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317480" y="2110740"/>
            <a:ext cx="518160" cy="518160"/>
          </a:xfrm>
          <a:prstGeom prst="ellipse">
            <a:avLst/>
          </a:prstGeom>
          <a:solidFill>
            <a:srgbClr val="8C3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317480" y="2110740"/>
            <a:ext cx="518160" cy="518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37420" y="2819400"/>
            <a:ext cx="147828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C3E49"/>
                </a:solidFill>
                <a:latin typeface="Aptos"/>
              </a:rPr>
              <a:t>Dense loss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37420" y="3185160"/>
            <a:ext cx="147828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43033"/>
                </a:solidFill>
                <a:latin typeface="Microsoft YaHei"/>
              </a:rPr>
              <a:t>监督噪声累积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41960" y="4076699"/>
            <a:ext cx="7543800" cy="1828800"/>
          </a:xfrm>
          <a:prstGeom prst="roundRect">
            <a:avLst>
              <a:gd name="adj" fmla="val 12000"/>
            </a:avLst>
          </a:prstGeom>
          <a:solidFill>
            <a:srgbClr val="704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1040" y="4312920"/>
            <a:ext cx="158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为什么重要？</a:t>
            </a:r>
          </a:p>
        </p:txBody>
      </p:sp>
      <p:sp>
        <p:nvSpPr>
          <p:cNvPr id="41" name="Oval 40"/>
          <p:cNvSpPr/>
          <p:nvPr/>
        </p:nvSpPr>
        <p:spPr>
          <a:xfrm>
            <a:off x="716280" y="4777740"/>
            <a:ext cx="76200" cy="76200"/>
          </a:xfrm>
          <a:prstGeom prst="ellipse">
            <a:avLst/>
          </a:prstGeom>
          <a:solidFill>
            <a:srgbClr val="D8D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99160" y="4724400"/>
            <a:ext cx="675132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icrosoft YaHei"/>
              </a:rPr>
              <a:t>长程任务训练成本高，后半段低质量 dense supervision 会反向伤害 Student。</a:t>
            </a:r>
          </a:p>
        </p:txBody>
      </p:sp>
      <p:sp>
        <p:nvSpPr>
          <p:cNvPr id="43" name="Oval 42"/>
          <p:cNvSpPr/>
          <p:nvPr/>
        </p:nvSpPr>
        <p:spPr>
          <a:xfrm>
            <a:off x="716280" y="5196840"/>
            <a:ext cx="76200" cy="76200"/>
          </a:xfrm>
          <a:prstGeom prst="ellipse">
            <a:avLst/>
          </a:prstGeom>
          <a:solidFill>
            <a:srgbClr val="D8D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99160" y="5143500"/>
            <a:ext cx="675132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icrosoft YaHei"/>
              </a:rPr>
              <a:t>统一截断会错杀仍然可教的轨迹，也会放过已经漂移的轨迹。</a:t>
            </a:r>
          </a:p>
        </p:txBody>
      </p:sp>
      <p:sp>
        <p:nvSpPr>
          <p:cNvPr id="45" name="Oval 44"/>
          <p:cNvSpPr/>
          <p:nvPr/>
        </p:nvSpPr>
        <p:spPr>
          <a:xfrm>
            <a:off x="716280" y="5615940"/>
            <a:ext cx="76200" cy="76200"/>
          </a:xfrm>
          <a:prstGeom prst="ellipse">
            <a:avLst/>
          </a:prstGeom>
          <a:solidFill>
            <a:srgbClr val="D8D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9160" y="5562600"/>
            <a:ext cx="675132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icrosoft YaHei"/>
              </a:rPr>
              <a:t>真正需要识别的是 trajectory-level distillability，而不是固定 turn 数。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305800" y="4076699"/>
            <a:ext cx="3444240" cy="1828800"/>
          </a:xfrm>
          <a:prstGeom prst="roundRect">
            <a:avLst>
              <a:gd name="adj" fmla="val 12000"/>
            </a:avLst>
          </a:prstGeom>
          <a:solidFill>
            <a:srgbClr val="E5EEE9"/>
          </a:solidFill>
          <a:ln w="12700">
            <a:solidFill>
              <a:srgbClr val="C7D9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64880" y="4312920"/>
            <a:ext cx="2773680" cy="289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15C4A"/>
                </a:solidFill>
                <a:latin typeface="Microsoft YaHei"/>
              </a:rPr>
              <a:t>研究目标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64880" y="4739640"/>
            <a:ext cx="2827020" cy="861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43033"/>
                </a:solidFill>
                <a:latin typeface="Microsoft YaHei"/>
              </a:rPr>
              <a:t>用在线可观测信号，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43033"/>
                </a:solidFill>
                <a:latin typeface="Microsoft YaHei"/>
              </a:rPr>
              <a:t>为每条轨迹动态决定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43033"/>
                </a:solidFill>
                <a:latin typeface="Microsoft YaHei"/>
              </a:rPr>
              <a:t>哪些 turn 进入训练 loss。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41960" y="190500"/>
            <a:ext cx="1130808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70485B"/>
                </a:solidFill>
                <a:latin typeface="Microsoft YaHei"/>
              </a:rPr>
              <a:t>已有方法：TCOD 提升了水平，但仍是全局固定 curriculum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41960" y="868680"/>
            <a:ext cx="11308080" cy="0"/>
          </a:xfrm>
          <a:prstGeom prst="line">
            <a:avLst/>
          </a:prstGeom>
          <a:ln w="15240">
            <a:solidFill>
              <a:srgbClr val="D8D0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049000" y="6416040"/>
            <a:ext cx="701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16A6E"/>
                </a:solidFill>
                <a:latin typeface="Aptos"/>
              </a:rPr>
              <a:t>06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1960" y="1066800"/>
            <a:ext cx="1130808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43033"/>
                </a:solidFill>
                <a:latin typeface="Microsoft YaHei"/>
              </a:rPr>
              <a:t>为保证可比，下面只报告同一学生、教师、训练步数和 full274 evaluator 下的本地结果。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1960" y="1562100"/>
            <a:ext cx="5311140" cy="3771900"/>
          </a:xfrm>
          <a:prstGeom prst="roundRect">
            <a:avLst>
              <a:gd name="adj" fmla="val 12000"/>
            </a:avLst>
          </a:prstGeom>
          <a:solidFill>
            <a:srgbClr val="F4F0F2"/>
          </a:solidFill>
          <a:ln w="12700">
            <a:solidFill>
              <a:srgbClr val="D8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01040" y="1790700"/>
            <a:ext cx="1394460" cy="381000"/>
          </a:xfrm>
          <a:prstGeom prst="roundRect">
            <a:avLst>
              <a:gd name="adj" fmla="val 12000"/>
            </a:avLst>
          </a:prstGeom>
          <a:solidFill>
            <a:srgbClr val="704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1040" y="1790700"/>
            <a:ext cx="1394460" cy="381000"/>
          </a:xfrm>
          <a:prstGeom prst="rect">
            <a:avLst/>
          </a:prstGeom>
          <a:noFill/>
        </p:spPr>
        <p:txBody>
          <a:bodyPr wrap="square" lIns="15240" rIns="15240" tIns="15240" bIns="1524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Vanilla OPD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1040" y="2438400"/>
            <a:ext cx="463296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11F20"/>
                </a:solidFill>
                <a:latin typeface="Microsoft YaHei"/>
              </a:rPr>
              <a:t>全轨迹蒸馏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1040" y="2834640"/>
            <a:ext cx="4632960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16A6E"/>
                </a:solidFill>
                <a:latin typeface="Microsoft YaHei"/>
              </a:rPr>
              <a:t>所有 turn 都进入 dense loss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1040" y="3352800"/>
            <a:ext cx="85344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16A6E"/>
                </a:solidFill>
                <a:latin typeface="Aptos"/>
              </a:rPr>
              <a:t>traj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91640" y="3390900"/>
            <a:ext cx="533400" cy="289560"/>
          </a:xfrm>
          <a:prstGeom prst="roundRect">
            <a:avLst>
              <a:gd name="adj" fmla="val 12000"/>
            </a:avLst>
          </a:prstGeom>
          <a:solidFill>
            <a:srgbClr val="9B7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301240" y="3390900"/>
            <a:ext cx="533400" cy="289560"/>
          </a:xfrm>
          <a:prstGeom prst="roundRect">
            <a:avLst>
              <a:gd name="adj" fmla="val 12000"/>
            </a:avLst>
          </a:prstGeom>
          <a:solidFill>
            <a:srgbClr val="9B7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910840" y="3390900"/>
            <a:ext cx="533400" cy="289560"/>
          </a:xfrm>
          <a:prstGeom prst="roundRect">
            <a:avLst>
              <a:gd name="adj" fmla="val 12000"/>
            </a:avLst>
          </a:prstGeom>
          <a:solidFill>
            <a:srgbClr val="9B7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520440" y="3390900"/>
            <a:ext cx="533400" cy="289560"/>
          </a:xfrm>
          <a:prstGeom prst="roundRect">
            <a:avLst>
              <a:gd name="adj" fmla="val 12000"/>
            </a:avLst>
          </a:prstGeom>
          <a:solidFill>
            <a:srgbClr val="9B7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130040" y="3390900"/>
            <a:ext cx="533400" cy="289560"/>
          </a:xfrm>
          <a:prstGeom prst="roundRect">
            <a:avLst>
              <a:gd name="adj" fmla="val 12000"/>
            </a:avLst>
          </a:prstGeom>
          <a:solidFill>
            <a:srgbClr val="9B7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739640" y="3390900"/>
            <a:ext cx="533400" cy="289560"/>
          </a:xfrm>
          <a:prstGeom prst="roundRect">
            <a:avLst>
              <a:gd name="adj" fmla="val 12000"/>
            </a:avLst>
          </a:prstGeom>
          <a:solidFill>
            <a:srgbClr val="9B7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1040" y="3855720"/>
            <a:ext cx="85344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16A6E"/>
                </a:solidFill>
                <a:latin typeface="Aptos"/>
              </a:rPr>
              <a:t>traj 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691640" y="3893820"/>
            <a:ext cx="533400" cy="289560"/>
          </a:xfrm>
          <a:prstGeom prst="roundRect">
            <a:avLst>
              <a:gd name="adj" fmla="val 12000"/>
            </a:avLst>
          </a:prstGeom>
          <a:solidFill>
            <a:srgbClr val="9B7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301240" y="3893820"/>
            <a:ext cx="533400" cy="289560"/>
          </a:xfrm>
          <a:prstGeom prst="roundRect">
            <a:avLst>
              <a:gd name="adj" fmla="val 12000"/>
            </a:avLst>
          </a:prstGeom>
          <a:solidFill>
            <a:srgbClr val="9B7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910840" y="3893820"/>
            <a:ext cx="533400" cy="289560"/>
          </a:xfrm>
          <a:prstGeom prst="roundRect">
            <a:avLst>
              <a:gd name="adj" fmla="val 12000"/>
            </a:avLst>
          </a:prstGeom>
          <a:solidFill>
            <a:srgbClr val="9B7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20440" y="3893820"/>
            <a:ext cx="533400" cy="289560"/>
          </a:xfrm>
          <a:prstGeom prst="roundRect">
            <a:avLst>
              <a:gd name="adj" fmla="val 12000"/>
            </a:avLst>
          </a:prstGeom>
          <a:solidFill>
            <a:srgbClr val="9B7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130040" y="3893820"/>
            <a:ext cx="533400" cy="289560"/>
          </a:xfrm>
          <a:prstGeom prst="roundRect">
            <a:avLst>
              <a:gd name="adj" fmla="val 12000"/>
            </a:avLst>
          </a:prstGeom>
          <a:solidFill>
            <a:srgbClr val="9B7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739640" y="3893820"/>
            <a:ext cx="533400" cy="289560"/>
          </a:xfrm>
          <a:prstGeom prst="roundRect">
            <a:avLst>
              <a:gd name="adj" fmla="val 12000"/>
            </a:avLst>
          </a:prstGeom>
          <a:solidFill>
            <a:srgbClr val="9B7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1040" y="4358640"/>
            <a:ext cx="85344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16A6E"/>
                </a:solidFill>
                <a:latin typeface="Aptos"/>
              </a:rPr>
              <a:t>traj 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691640" y="4396740"/>
            <a:ext cx="533400" cy="289560"/>
          </a:xfrm>
          <a:prstGeom prst="roundRect">
            <a:avLst>
              <a:gd name="adj" fmla="val 12000"/>
            </a:avLst>
          </a:prstGeom>
          <a:solidFill>
            <a:srgbClr val="9B7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301240" y="4396740"/>
            <a:ext cx="533400" cy="289560"/>
          </a:xfrm>
          <a:prstGeom prst="roundRect">
            <a:avLst>
              <a:gd name="adj" fmla="val 12000"/>
            </a:avLst>
          </a:prstGeom>
          <a:solidFill>
            <a:srgbClr val="9B7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910840" y="4396740"/>
            <a:ext cx="533400" cy="289560"/>
          </a:xfrm>
          <a:prstGeom prst="roundRect">
            <a:avLst>
              <a:gd name="adj" fmla="val 12000"/>
            </a:avLst>
          </a:prstGeom>
          <a:solidFill>
            <a:srgbClr val="9B7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520440" y="4396740"/>
            <a:ext cx="533400" cy="289560"/>
          </a:xfrm>
          <a:prstGeom prst="roundRect">
            <a:avLst>
              <a:gd name="adj" fmla="val 12000"/>
            </a:avLst>
          </a:prstGeom>
          <a:solidFill>
            <a:srgbClr val="9B7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130040" y="4396740"/>
            <a:ext cx="533400" cy="289560"/>
          </a:xfrm>
          <a:prstGeom prst="roundRect">
            <a:avLst>
              <a:gd name="adj" fmla="val 12000"/>
            </a:avLst>
          </a:prstGeom>
          <a:solidFill>
            <a:srgbClr val="9B7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739640" y="4396740"/>
            <a:ext cx="533400" cy="289560"/>
          </a:xfrm>
          <a:prstGeom prst="roundRect">
            <a:avLst>
              <a:gd name="adj" fmla="val 12000"/>
            </a:avLst>
          </a:prstGeom>
          <a:solidFill>
            <a:srgbClr val="9B7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1040" y="4800600"/>
            <a:ext cx="150876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8C3E49"/>
                </a:solidFill>
                <a:latin typeface="Aptos"/>
              </a:rPr>
              <a:t>79.56%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86000" y="4937760"/>
            <a:ext cx="990599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16A6E"/>
                </a:solidFill>
                <a:latin typeface="Aptos"/>
              </a:rPr>
              <a:t>218 / 274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34100" y="1562100"/>
            <a:ext cx="5615940" cy="3771900"/>
          </a:xfrm>
          <a:prstGeom prst="roundRect">
            <a:avLst>
              <a:gd name="adj" fmla="val 12000"/>
            </a:avLst>
          </a:prstGeom>
          <a:solidFill>
            <a:srgbClr val="E5EEE9"/>
          </a:solidFill>
          <a:ln w="12700">
            <a:solidFill>
              <a:srgbClr val="C7D9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393180" y="1790700"/>
            <a:ext cx="1318260" cy="381000"/>
          </a:xfrm>
          <a:prstGeom prst="roundRect">
            <a:avLst>
              <a:gd name="adj" fmla="val 12000"/>
            </a:avLst>
          </a:prstGeom>
          <a:solidFill>
            <a:srgbClr val="315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93180" y="1790700"/>
            <a:ext cx="1318260" cy="381000"/>
          </a:xfrm>
          <a:prstGeom prst="rect">
            <a:avLst/>
          </a:prstGeom>
          <a:noFill/>
        </p:spPr>
        <p:txBody>
          <a:bodyPr wrap="square" lIns="15240" rIns="15240" tIns="15240" bIns="1524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TCOD-F2B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93180" y="2438400"/>
            <a:ext cx="488442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11F20"/>
                </a:solidFill>
                <a:latin typeface="Microsoft YaHei"/>
              </a:rPr>
              <a:t>按训练进度逐步扩展 horizon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93180" y="2834640"/>
            <a:ext cx="4884420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16A6E"/>
                </a:solidFill>
                <a:latin typeface="Microsoft YaHei"/>
              </a:rPr>
              <a:t>同一阶段，所有轨迹使用同一个 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93180" y="3352800"/>
            <a:ext cx="85344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16A6E"/>
                </a:solidFill>
                <a:latin typeface="Aptos"/>
              </a:rPr>
              <a:t>traj 1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83779" y="3390900"/>
            <a:ext cx="533400" cy="289560"/>
          </a:xfrm>
          <a:prstGeom prst="roundRect">
            <a:avLst>
              <a:gd name="adj" fmla="val 12000"/>
            </a:avLst>
          </a:prstGeom>
          <a:solidFill>
            <a:srgbClr val="315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993380" y="3390900"/>
            <a:ext cx="533400" cy="289560"/>
          </a:xfrm>
          <a:prstGeom prst="roundRect">
            <a:avLst>
              <a:gd name="adj" fmla="val 12000"/>
            </a:avLst>
          </a:prstGeom>
          <a:solidFill>
            <a:srgbClr val="315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602980" y="3390900"/>
            <a:ext cx="533400" cy="289560"/>
          </a:xfrm>
          <a:prstGeom prst="roundRect">
            <a:avLst>
              <a:gd name="adj" fmla="val 12000"/>
            </a:avLst>
          </a:prstGeom>
          <a:solidFill>
            <a:srgbClr val="315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212580" y="3390900"/>
            <a:ext cx="533400" cy="289560"/>
          </a:xfrm>
          <a:prstGeom prst="roundRect">
            <a:avLst>
              <a:gd name="adj" fmla="val 12000"/>
            </a:avLst>
          </a:prstGeom>
          <a:solidFill>
            <a:srgbClr val="D8D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822180" y="3390900"/>
            <a:ext cx="533400" cy="289560"/>
          </a:xfrm>
          <a:prstGeom prst="roundRect">
            <a:avLst>
              <a:gd name="adj" fmla="val 12000"/>
            </a:avLst>
          </a:prstGeom>
          <a:solidFill>
            <a:srgbClr val="D8D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10431780" y="3390900"/>
            <a:ext cx="533400" cy="289560"/>
          </a:xfrm>
          <a:prstGeom prst="roundRect">
            <a:avLst>
              <a:gd name="adj" fmla="val 12000"/>
            </a:avLst>
          </a:prstGeom>
          <a:solidFill>
            <a:srgbClr val="D8D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93180" y="3855720"/>
            <a:ext cx="85344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16A6E"/>
                </a:solidFill>
                <a:latin typeface="Aptos"/>
              </a:rPr>
              <a:t>traj 2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83779" y="3893820"/>
            <a:ext cx="533400" cy="289560"/>
          </a:xfrm>
          <a:prstGeom prst="roundRect">
            <a:avLst>
              <a:gd name="adj" fmla="val 12000"/>
            </a:avLst>
          </a:prstGeom>
          <a:solidFill>
            <a:srgbClr val="315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7993380" y="3893820"/>
            <a:ext cx="533400" cy="289560"/>
          </a:xfrm>
          <a:prstGeom prst="roundRect">
            <a:avLst>
              <a:gd name="adj" fmla="val 12000"/>
            </a:avLst>
          </a:prstGeom>
          <a:solidFill>
            <a:srgbClr val="315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8602980" y="3893820"/>
            <a:ext cx="533400" cy="289560"/>
          </a:xfrm>
          <a:prstGeom prst="roundRect">
            <a:avLst>
              <a:gd name="adj" fmla="val 12000"/>
            </a:avLst>
          </a:prstGeom>
          <a:solidFill>
            <a:srgbClr val="315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9212580" y="3893820"/>
            <a:ext cx="533400" cy="289560"/>
          </a:xfrm>
          <a:prstGeom prst="roundRect">
            <a:avLst>
              <a:gd name="adj" fmla="val 12000"/>
            </a:avLst>
          </a:prstGeom>
          <a:solidFill>
            <a:srgbClr val="D8D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9822180" y="3893820"/>
            <a:ext cx="533400" cy="289560"/>
          </a:xfrm>
          <a:prstGeom prst="roundRect">
            <a:avLst>
              <a:gd name="adj" fmla="val 12000"/>
            </a:avLst>
          </a:prstGeom>
          <a:solidFill>
            <a:srgbClr val="D8D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0431780" y="3893820"/>
            <a:ext cx="533400" cy="289560"/>
          </a:xfrm>
          <a:prstGeom prst="roundRect">
            <a:avLst>
              <a:gd name="adj" fmla="val 12000"/>
            </a:avLst>
          </a:prstGeom>
          <a:solidFill>
            <a:srgbClr val="D8D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93180" y="4358640"/>
            <a:ext cx="85344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16A6E"/>
                </a:solidFill>
                <a:latin typeface="Aptos"/>
              </a:rPr>
              <a:t>traj 3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383779" y="4396740"/>
            <a:ext cx="533400" cy="289560"/>
          </a:xfrm>
          <a:prstGeom prst="roundRect">
            <a:avLst>
              <a:gd name="adj" fmla="val 12000"/>
            </a:avLst>
          </a:prstGeom>
          <a:solidFill>
            <a:srgbClr val="315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7993380" y="4396740"/>
            <a:ext cx="533400" cy="289560"/>
          </a:xfrm>
          <a:prstGeom prst="roundRect">
            <a:avLst>
              <a:gd name="adj" fmla="val 12000"/>
            </a:avLst>
          </a:prstGeom>
          <a:solidFill>
            <a:srgbClr val="315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8602980" y="4396740"/>
            <a:ext cx="533400" cy="289560"/>
          </a:xfrm>
          <a:prstGeom prst="roundRect">
            <a:avLst>
              <a:gd name="adj" fmla="val 12000"/>
            </a:avLst>
          </a:prstGeom>
          <a:solidFill>
            <a:srgbClr val="315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9212580" y="4396740"/>
            <a:ext cx="533400" cy="289560"/>
          </a:xfrm>
          <a:prstGeom prst="roundRect">
            <a:avLst>
              <a:gd name="adj" fmla="val 12000"/>
            </a:avLst>
          </a:prstGeom>
          <a:solidFill>
            <a:srgbClr val="D8D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9822180" y="4396740"/>
            <a:ext cx="533400" cy="289560"/>
          </a:xfrm>
          <a:prstGeom prst="roundRect">
            <a:avLst>
              <a:gd name="adj" fmla="val 12000"/>
            </a:avLst>
          </a:prstGeom>
          <a:solidFill>
            <a:srgbClr val="D8D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10431780" y="4396740"/>
            <a:ext cx="533400" cy="289560"/>
          </a:xfrm>
          <a:prstGeom prst="roundRect">
            <a:avLst>
              <a:gd name="adj" fmla="val 12000"/>
            </a:avLst>
          </a:prstGeom>
          <a:solidFill>
            <a:srgbClr val="D8D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93180" y="4800600"/>
            <a:ext cx="150876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315C4A"/>
                </a:solidFill>
                <a:latin typeface="Aptos"/>
              </a:rPr>
              <a:t>84.67%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978140" y="4937760"/>
            <a:ext cx="101346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16A6E"/>
                </a:solidFill>
                <a:latin typeface="Aptos"/>
              </a:rPr>
              <a:t>232 / 274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41960" y="5577840"/>
            <a:ext cx="11308080" cy="670560"/>
          </a:xfrm>
          <a:prstGeom prst="roundRect">
            <a:avLst>
              <a:gd name="adj" fmla="val 12000"/>
            </a:avLst>
          </a:prstGeom>
          <a:solidFill>
            <a:srgbClr val="704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01040" y="5745480"/>
            <a:ext cx="518160" cy="335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D8D0D4"/>
                </a:solidFill>
                <a:latin typeface="Microsoft YaHei"/>
              </a:rPr>
              <a:t>局限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386840" y="5699760"/>
            <a:ext cx="9966960" cy="426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global schedule 不知道哪条轨迹已经漂移，也不知道哪条轨迹仍值得继续蒸馏。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41960" y="6362700"/>
            <a:ext cx="9845040" cy="220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16A6E"/>
                </a:solidFill>
                <a:latin typeface="Microsoft YaHei"/>
              </a:rPr>
              <a:t>TCOD 论文：arXiv:2604.24005；本地复现协议见项目 BASELINE_SPEC。</a:t>
            </a:r>
          </a:p>
        </p:txBody>
      </p:sp>
      <p:sp>
        <p:nvSpPr>
          <p:cNvPr id="66" name="Rectangle 65">
            <a:hlinkClick r:id="rId2"/>
          </p:cNvPr>
          <p:cNvSpPr/>
          <p:nvPr/>
        </p:nvSpPr>
        <p:spPr>
          <a:xfrm>
            <a:off x="441960" y="6309360"/>
            <a:ext cx="4511040" cy="350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41960" y="190500"/>
            <a:ext cx="1130808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70485B"/>
                </a:solidFill>
                <a:latin typeface="Microsoft YaHei"/>
              </a:rPr>
              <a:t>我们的改进：用教师熵的相对漂移定位 Distillable Frontier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41960" y="868680"/>
            <a:ext cx="11308080" cy="0"/>
          </a:xfrm>
          <a:prstGeom prst="line">
            <a:avLst/>
          </a:prstGeom>
          <a:ln w="15240">
            <a:solidFill>
              <a:srgbClr val="D8D0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049000" y="6416040"/>
            <a:ext cx="701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16A6E"/>
                </a:solidFill>
                <a:latin typeface="Aptos"/>
              </a:rPr>
              <a:t>07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1960" y="1066800"/>
            <a:ext cx="1130808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43033"/>
                </a:solidFill>
                <a:latin typeface="Microsoft YaHei"/>
              </a:rPr>
              <a:t>不是问“第几轮一定不可靠”，而是问“这条轨迹相对它自己的起点，何时发生持续漂移”。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1960" y="1600200"/>
            <a:ext cx="6416040" cy="3657600"/>
          </a:xfrm>
          <a:prstGeom prst="roundRect">
            <a:avLst>
              <a:gd name="adj" fmla="val 12000"/>
            </a:avLst>
          </a:prstGeom>
          <a:solidFill>
            <a:srgbClr val="F4F0F2"/>
          </a:solidFill>
          <a:ln w="12700">
            <a:solidFill>
              <a:srgbClr val="D8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1040" y="1813560"/>
            <a:ext cx="2575560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0485B"/>
                </a:solidFill>
                <a:latin typeface="Aptos"/>
              </a:rPr>
              <a:t>Teacher entropy drift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99160" y="4686300"/>
            <a:ext cx="5547360" cy="0"/>
          </a:xfrm>
          <a:prstGeom prst="line">
            <a:avLst/>
          </a:prstGeom>
          <a:ln w="15240">
            <a:solidFill>
              <a:srgbClr val="716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899160" y="2362200"/>
            <a:ext cx="0" cy="2324100"/>
          </a:xfrm>
          <a:prstGeom prst="line">
            <a:avLst/>
          </a:prstGeom>
          <a:ln w="15240">
            <a:solidFill>
              <a:srgbClr val="716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27760" y="3924300"/>
            <a:ext cx="495300" cy="54864"/>
          </a:xfrm>
          <a:prstGeom prst="line">
            <a:avLst/>
          </a:prstGeom>
          <a:ln w="38100">
            <a:solidFill>
              <a:srgbClr val="7048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623060" y="3924300"/>
            <a:ext cx="495300" cy="27432"/>
          </a:xfrm>
          <a:prstGeom prst="line">
            <a:avLst/>
          </a:prstGeom>
          <a:ln w="38100">
            <a:solidFill>
              <a:srgbClr val="7048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2118360" y="3842003"/>
            <a:ext cx="495300" cy="109729"/>
          </a:xfrm>
          <a:prstGeom prst="line">
            <a:avLst/>
          </a:prstGeom>
          <a:ln w="38100">
            <a:solidFill>
              <a:srgbClr val="7048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2613660" y="3787140"/>
            <a:ext cx="495300" cy="54863"/>
          </a:xfrm>
          <a:prstGeom prst="line">
            <a:avLst/>
          </a:prstGeom>
          <a:ln w="38100">
            <a:solidFill>
              <a:srgbClr val="7048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3108960" y="3677412"/>
            <a:ext cx="495300" cy="109728"/>
          </a:xfrm>
          <a:prstGeom prst="line">
            <a:avLst/>
          </a:prstGeom>
          <a:ln w="38100">
            <a:solidFill>
              <a:srgbClr val="7048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3604260" y="3457956"/>
            <a:ext cx="495300" cy="219456"/>
          </a:xfrm>
          <a:prstGeom prst="line">
            <a:avLst/>
          </a:prstGeom>
          <a:ln w="38100">
            <a:solidFill>
              <a:srgbClr val="7048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4099560" y="3128772"/>
            <a:ext cx="495300" cy="329184"/>
          </a:xfrm>
          <a:prstGeom prst="line">
            <a:avLst/>
          </a:prstGeom>
          <a:ln w="38100">
            <a:solidFill>
              <a:srgbClr val="7048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4594860" y="2881884"/>
            <a:ext cx="495300" cy="246888"/>
          </a:xfrm>
          <a:prstGeom prst="line">
            <a:avLst/>
          </a:prstGeom>
          <a:ln w="38100">
            <a:solidFill>
              <a:srgbClr val="7048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5090160" y="2772156"/>
            <a:ext cx="495300" cy="109728"/>
          </a:xfrm>
          <a:prstGeom prst="line">
            <a:avLst/>
          </a:prstGeom>
          <a:ln w="38100">
            <a:solidFill>
              <a:srgbClr val="7048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5585460" y="2634995"/>
            <a:ext cx="495300" cy="137161"/>
          </a:xfrm>
          <a:prstGeom prst="line">
            <a:avLst/>
          </a:prstGeom>
          <a:ln w="38100">
            <a:solidFill>
              <a:srgbClr val="7048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1089660" y="3941064"/>
            <a:ext cx="76200" cy="76200"/>
          </a:xfrm>
          <a:prstGeom prst="ellipse">
            <a:avLst/>
          </a:prstGeom>
          <a:solidFill>
            <a:srgbClr val="704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584960" y="3886200"/>
            <a:ext cx="76200" cy="76200"/>
          </a:xfrm>
          <a:prstGeom prst="ellipse">
            <a:avLst/>
          </a:prstGeom>
          <a:solidFill>
            <a:srgbClr val="704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80260" y="3913632"/>
            <a:ext cx="76200" cy="76200"/>
          </a:xfrm>
          <a:prstGeom prst="ellipse">
            <a:avLst/>
          </a:prstGeom>
          <a:solidFill>
            <a:srgbClr val="704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575560" y="3803904"/>
            <a:ext cx="76200" cy="76200"/>
          </a:xfrm>
          <a:prstGeom prst="ellipse">
            <a:avLst/>
          </a:prstGeom>
          <a:solidFill>
            <a:srgbClr val="704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070860" y="3749039"/>
            <a:ext cx="76200" cy="76200"/>
          </a:xfrm>
          <a:prstGeom prst="ellipse">
            <a:avLst/>
          </a:prstGeom>
          <a:solidFill>
            <a:srgbClr val="704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566160" y="3639312"/>
            <a:ext cx="76200" cy="76200"/>
          </a:xfrm>
          <a:prstGeom prst="ellipse">
            <a:avLst/>
          </a:prstGeom>
          <a:solidFill>
            <a:srgbClr val="704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061460" y="3419856"/>
            <a:ext cx="76200" cy="76200"/>
          </a:xfrm>
          <a:prstGeom prst="ellipse">
            <a:avLst/>
          </a:prstGeom>
          <a:solidFill>
            <a:srgbClr val="704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556760" y="3090672"/>
            <a:ext cx="76200" cy="76200"/>
          </a:xfrm>
          <a:prstGeom prst="ellipse">
            <a:avLst/>
          </a:prstGeom>
          <a:solidFill>
            <a:srgbClr val="704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052060" y="2843784"/>
            <a:ext cx="76200" cy="76200"/>
          </a:xfrm>
          <a:prstGeom prst="ellipse">
            <a:avLst/>
          </a:prstGeom>
          <a:solidFill>
            <a:srgbClr val="704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547360" y="2734056"/>
            <a:ext cx="76200" cy="76200"/>
          </a:xfrm>
          <a:prstGeom prst="ellipse">
            <a:avLst/>
          </a:prstGeom>
          <a:solidFill>
            <a:srgbClr val="704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042660" y="2596895"/>
            <a:ext cx="76200" cy="76200"/>
          </a:xfrm>
          <a:prstGeom prst="ellipse">
            <a:avLst/>
          </a:prstGeom>
          <a:solidFill>
            <a:srgbClr val="704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4594860" y="2476500"/>
            <a:ext cx="0" cy="2209800"/>
          </a:xfrm>
          <a:prstGeom prst="line">
            <a:avLst/>
          </a:prstGeom>
          <a:ln w="27940">
            <a:solidFill>
              <a:srgbClr val="8C3E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671060" y="2453640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C3E49"/>
                </a:solidFill>
                <a:latin typeface="Aptos"/>
              </a:rPr>
              <a:t>frontier  fᵢ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99160" y="4823460"/>
            <a:ext cx="3665220" cy="281940"/>
          </a:xfrm>
          <a:prstGeom prst="rect">
            <a:avLst/>
          </a:prstGeom>
          <a:solidFill>
            <a:srgbClr val="315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625340" y="4823460"/>
            <a:ext cx="1821180" cy="281940"/>
          </a:xfrm>
          <a:prstGeom prst="rect">
            <a:avLst/>
          </a:prstGeom>
          <a:solidFill>
            <a:srgbClr val="D8D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9160" y="4823460"/>
            <a:ext cx="3665220" cy="2819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保留 loss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25340" y="4823460"/>
            <a:ext cx="1821180" cy="2819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16A6E"/>
                </a:solidFill>
                <a:latin typeface="Microsoft YaHei"/>
              </a:rPr>
              <a:t>屏蔽 suffix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162800" y="1600200"/>
            <a:ext cx="4587240" cy="3657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2860">
            <a:solidFill>
              <a:srgbClr val="704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52360" y="1844040"/>
            <a:ext cx="3886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70485B"/>
                </a:solidFill>
                <a:latin typeface="Microsoft YaHei"/>
              </a:rPr>
              <a:t>算法定义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52360" y="2301240"/>
            <a:ext cx="3901440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43033"/>
                </a:solidFill>
                <a:latin typeface="Microsoft YaHei"/>
              </a:rPr>
              <a:t>1. 完整 rollout，并由 Teacher 评分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52360" y="2727960"/>
            <a:ext cx="3901440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43033"/>
                </a:solidFill>
                <a:latin typeface="Microsoft YaHei"/>
              </a:rPr>
              <a:t>2. 首 3 turn 建立局部熵基线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20000" y="3124200"/>
            <a:ext cx="3733799" cy="289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70485B"/>
                </a:solidFill>
                <a:latin typeface="Cambria Math"/>
              </a:rPr>
              <a:t>Bᵢ = ⅓ Σₜ₌₀² Hᵢ,ₜ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52360" y="3627120"/>
            <a:ext cx="3901440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43033"/>
                </a:solidFill>
                <a:latin typeface="Microsoft YaHei"/>
              </a:rPr>
              <a:t>3. 连续 3 turn 的平均漂移 ≥ 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20000" y="4023360"/>
            <a:ext cx="3733799" cy="289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8C3E49"/>
                </a:solidFill>
                <a:latin typeface="Cambria Math"/>
              </a:rPr>
              <a:t>fᵢ = first sustained crossing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52360" y="4480560"/>
            <a:ext cx="3901440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43033"/>
                </a:solidFill>
                <a:latin typeface="Microsoft YaHei"/>
              </a:rPr>
              <a:t>4. 仅保留 t &lt; fᵢ 的 OPD loss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52360" y="4838700"/>
            <a:ext cx="3901440" cy="220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16A6E"/>
                </a:solidFill>
                <a:latin typeface="Microsoft YaHei"/>
              </a:rPr>
              <a:t>无触发则保留整条轨迹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41960" y="5547360"/>
            <a:ext cx="11308080" cy="670560"/>
          </a:xfrm>
          <a:prstGeom prst="roundRect">
            <a:avLst>
              <a:gd name="adj" fmla="val 12000"/>
            </a:avLst>
          </a:prstGeom>
          <a:solidFill>
            <a:srgbClr val="E5EEE9"/>
          </a:solidFill>
          <a:ln w="12700">
            <a:solidFill>
              <a:srgbClr val="C7D9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01040" y="5707380"/>
            <a:ext cx="861060" cy="3733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15C4A"/>
                </a:solidFill>
                <a:latin typeface="Microsoft YaHei"/>
              </a:rPr>
              <a:t>关键控制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737360" y="5676900"/>
            <a:ext cx="9616440" cy="4343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43033"/>
                </a:solidFill>
                <a:latin typeface="Microsoft YaHei"/>
              </a:rPr>
              <a:t>环境交互和 Teacher 评分仍跑完整轨迹，只改变 loss selection，因此提升可归因于数据选择。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1960" y="6362700"/>
            <a:ext cx="9845040" cy="220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16A6E"/>
                </a:solidFill>
                <a:latin typeface="Microsoft YaHei"/>
              </a:rPr>
              <a:t>实现信号：Teacher top-16 partial entropy；τ 为相对熵漂移阈值。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41960" y="190500"/>
            <a:ext cx="1130808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70485B"/>
                </a:solidFill>
                <a:latin typeface="Microsoft YaHei"/>
              </a:rPr>
              <a:t>实验设计：冻结所有变量，只扫描熵阈值 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41960" y="868680"/>
            <a:ext cx="11308080" cy="0"/>
          </a:xfrm>
          <a:prstGeom prst="line">
            <a:avLst/>
          </a:prstGeom>
          <a:ln w="15240">
            <a:solidFill>
              <a:srgbClr val="D8D0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049000" y="6416040"/>
            <a:ext cx="701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16A6E"/>
                </a:solidFill>
                <a:latin typeface="Aptos"/>
              </a:rPr>
              <a:t>08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1960" y="1104900"/>
            <a:ext cx="2545080" cy="891540"/>
          </a:xfrm>
          <a:prstGeom prst="roundRect">
            <a:avLst>
              <a:gd name="adj" fmla="val 12000"/>
            </a:avLst>
          </a:prstGeom>
          <a:solidFill>
            <a:srgbClr val="F4F0F2"/>
          </a:solidFill>
          <a:ln w="12700">
            <a:solidFill>
              <a:srgbClr val="D8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4840" y="1264920"/>
            <a:ext cx="2103120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0485B"/>
                </a:solidFill>
                <a:latin typeface="Aptos"/>
              </a:rPr>
              <a:t>Student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4840" y="1584960"/>
            <a:ext cx="2179320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F20"/>
                </a:solidFill>
                <a:latin typeface="Aptos"/>
              </a:rPr>
              <a:t>Qwen2.5-3B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68980" y="1104900"/>
            <a:ext cx="2545080" cy="891540"/>
          </a:xfrm>
          <a:prstGeom prst="roundRect">
            <a:avLst>
              <a:gd name="adj" fmla="val 12000"/>
            </a:avLst>
          </a:prstGeom>
          <a:solidFill>
            <a:srgbClr val="E5EEE9"/>
          </a:solidFill>
          <a:ln w="12700">
            <a:solidFill>
              <a:srgbClr val="D8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51860" y="1264920"/>
            <a:ext cx="2103120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15C4A"/>
                </a:solidFill>
                <a:latin typeface="Aptos"/>
              </a:rPr>
              <a:t>Teacher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51860" y="1584960"/>
            <a:ext cx="2179320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F20"/>
                </a:solidFill>
                <a:latin typeface="Aptos"/>
              </a:rPr>
              <a:t>GiGPO 7B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6000" y="1104900"/>
            <a:ext cx="2545080" cy="891540"/>
          </a:xfrm>
          <a:prstGeom prst="roundRect">
            <a:avLst>
              <a:gd name="adj" fmla="val 12000"/>
            </a:avLst>
          </a:prstGeom>
          <a:solidFill>
            <a:srgbClr val="F4F0F2"/>
          </a:solidFill>
          <a:ln w="12700">
            <a:solidFill>
              <a:srgbClr val="D8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8880" y="1264920"/>
            <a:ext cx="2103120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8C3E49"/>
                </a:solidFill>
                <a:latin typeface="Aptos"/>
              </a:rPr>
              <a:t>Training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78880" y="1584960"/>
            <a:ext cx="2179320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F20"/>
                </a:solidFill>
                <a:latin typeface="Aptos"/>
              </a:rPr>
              <a:t>250 steps · 4 GPU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23020" y="1104900"/>
            <a:ext cx="2545080" cy="891540"/>
          </a:xfrm>
          <a:prstGeom prst="roundRect">
            <a:avLst>
              <a:gd name="adj" fmla="val 12000"/>
            </a:avLst>
          </a:prstGeom>
          <a:solidFill>
            <a:srgbClr val="F4F0F2"/>
          </a:solidFill>
          <a:ln w="12700">
            <a:solidFill>
              <a:srgbClr val="D8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05900" y="1264920"/>
            <a:ext cx="2103120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0485B"/>
                </a:solidFill>
                <a:latin typeface="Aptos"/>
              </a:rPr>
              <a:t>Evaluation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05900" y="1584960"/>
            <a:ext cx="2179320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F20"/>
                </a:solidFill>
                <a:latin typeface="Aptos"/>
              </a:rPr>
              <a:t>ALFWorld full274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1960" y="2324100"/>
            <a:ext cx="7559040" cy="3657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1040" y="2552700"/>
            <a:ext cx="7033260" cy="281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F20"/>
                </a:solidFill>
                <a:latin typeface="Microsoft YaHei"/>
              </a:rPr>
              <a:t>阈值扫描：成功率并非单调，τ = 0.10 形成最佳平衡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05840" y="5334000"/>
            <a:ext cx="6461759" cy="0"/>
          </a:xfrm>
          <a:prstGeom prst="line">
            <a:avLst/>
          </a:prstGeom>
          <a:ln w="13970">
            <a:solidFill>
              <a:srgbClr val="716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005840" y="3086100"/>
            <a:ext cx="0" cy="2247900"/>
          </a:xfrm>
          <a:prstGeom prst="line">
            <a:avLst/>
          </a:prstGeom>
          <a:ln w="13970">
            <a:solidFill>
              <a:srgbClr val="716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05840" y="5334000"/>
            <a:ext cx="6461759" cy="0"/>
          </a:xfrm>
          <a:prstGeom prst="line">
            <a:avLst/>
          </a:prstGeom>
          <a:ln w="8890">
            <a:solidFill>
              <a:srgbClr val="D8D0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63880" y="5257800"/>
            <a:ext cx="3276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16A6E"/>
                </a:solidFill>
                <a:latin typeface="Aptos"/>
              </a:rPr>
              <a:t>78%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005840" y="4584700"/>
            <a:ext cx="6461759" cy="0"/>
          </a:xfrm>
          <a:prstGeom prst="line">
            <a:avLst/>
          </a:prstGeom>
          <a:ln w="8890">
            <a:solidFill>
              <a:srgbClr val="D8D0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63880" y="4508500"/>
            <a:ext cx="3276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16A6E"/>
                </a:solidFill>
                <a:latin typeface="Aptos"/>
              </a:rPr>
              <a:t>82%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05840" y="3835400"/>
            <a:ext cx="6461759" cy="0"/>
          </a:xfrm>
          <a:prstGeom prst="line">
            <a:avLst/>
          </a:prstGeom>
          <a:ln w="8890">
            <a:solidFill>
              <a:srgbClr val="D8D0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63880" y="3759200"/>
            <a:ext cx="3276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16A6E"/>
                </a:solidFill>
                <a:latin typeface="Aptos"/>
              </a:rPr>
              <a:t>86%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005840" y="3086100"/>
            <a:ext cx="6461759" cy="0"/>
          </a:xfrm>
          <a:prstGeom prst="line">
            <a:avLst/>
          </a:prstGeom>
          <a:ln w="8890">
            <a:solidFill>
              <a:srgbClr val="D8D0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63880" y="3009900"/>
            <a:ext cx="3276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16A6E"/>
                </a:solidFill>
                <a:latin typeface="Aptos"/>
              </a:rPr>
              <a:t>90%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653540" y="4631531"/>
            <a:ext cx="1790700" cy="273494"/>
          </a:xfrm>
          <a:prstGeom prst="line">
            <a:avLst/>
          </a:prstGeom>
          <a:ln w="33020">
            <a:solidFill>
              <a:srgbClr val="9B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3444240" y="3674300"/>
            <a:ext cx="1790700" cy="1230725"/>
          </a:xfrm>
          <a:prstGeom prst="line">
            <a:avLst/>
          </a:prstGeom>
          <a:ln w="33020">
            <a:solidFill>
              <a:srgbClr val="9B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234940" y="3674300"/>
            <a:ext cx="1790700" cy="820483"/>
          </a:xfrm>
          <a:prstGeom prst="line">
            <a:avLst/>
          </a:prstGeom>
          <a:ln w="33020">
            <a:solidFill>
              <a:srgbClr val="9B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1592580" y="4570571"/>
            <a:ext cx="121920" cy="121920"/>
          </a:xfrm>
          <a:prstGeom prst="ellipse">
            <a:avLst/>
          </a:prstGeom>
          <a:solidFill>
            <a:srgbClr val="704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58240" y="4341971"/>
            <a:ext cx="99059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0485B"/>
                </a:solidFill>
                <a:latin typeface="Aptos"/>
              </a:rPr>
              <a:t>81.75%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58240" y="5486400"/>
            <a:ext cx="99059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16A6E"/>
                </a:solidFill>
                <a:latin typeface="Aptos"/>
              </a:rPr>
              <a:t>τ=0.05</a:t>
            </a:r>
          </a:p>
        </p:txBody>
      </p:sp>
      <p:sp>
        <p:nvSpPr>
          <p:cNvPr id="35" name="Oval 34"/>
          <p:cNvSpPr/>
          <p:nvPr/>
        </p:nvSpPr>
        <p:spPr>
          <a:xfrm>
            <a:off x="3383280" y="4844065"/>
            <a:ext cx="121920" cy="121920"/>
          </a:xfrm>
          <a:prstGeom prst="ellipse">
            <a:avLst/>
          </a:prstGeom>
          <a:solidFill>
            <a:srgbClr val="704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948940" y="4615465"/>
            <a:ext cx="99059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0485B"/>
                </a:solidFill>
                <a:latin typeface="Aptos"/>
              </a:rPr>
              <a:t>80.29%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48940" y="5486400"/>
            <a:ext cx="99059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16A6E"/>
                </a:solidFill>
                <a:latin typeface="Aptos"/>
              </a:rPr>
              <a:t>τ=0.075</a:t>
            </a:r>
          </a:p>
        </p:txBody>
      </p:sp>
      <p:sp>
        <p:nvSpPr>
          <p:cNvPr id="38" name="Oval 37"/>
          <p:cNvSpPr/>
          <p:nvPr/>
        </p:nvSpPr>
        <p:spPr>
          <a:xfrm>
            <a:off x="5173980" y="3613340"/>
            <a:ext cx="121920" cy="121920"/>
          </a:xfrm>
          <a:prstGeom prst="ellipse">
            <a:avLst/>
          </a:prstGeom>
          <a:solidFill>
            <a:srgbClr val="8C3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39640" y="3384740"/>
            <a:ext cx="99059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C3E49"/>
                </a:solidFill>
                <a:latin typeface="Aptos"/>
              </a:rPr>
              <a:t>86.86%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39640" y="5486400"/>
            <a:ext cx="99059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16A6E"/>
                </a:solidFill>
                <a:latin typeface="Aptos"/>
              </a:rPr>
              <a:t>τ=0.1</a:t>
            </a:r>
          </a:p>
        </p:txBody>
      </p:sp>
      <p:sp>
        <p:nvSpPr>
          <p:cNvPr id="41" name="Oval 40"/>
          <p:cNvSpPr/>
          <p:nvPr/>
        </p:nvSpPr>
        <p:spPr>
          <a:xfrm>
            <a:off x="6964680" y="4433823"/>
            <a:ext cx="121920" cy="121920"/>
          </a:xfrm>
          <a:prstGeom prst="ellipse">
            <a:avLst/>
          </a:prstGeom>
          <a:solidFill>
            <a:srgbClr val="704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30340" y="4205223"/>
            <a:ext cx="99059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0485B"/>
                </a:solidFill>
                <a:latin typeface="Aptos"/>
              </a:rPr>
              <a:t>82.48%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30340" y="5486400"/>
            <a:ext cx="99059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16A6E"/>
                </a:solidFill>
                <a:latin typeface="Aptos"/>
              </a:rPr>
              <a:t>τ=0.125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305800" y="2324100"/>
            <a:ext cx="3444240" cy="3657600"/>
          </a:xfrm>
          <a:prstGeom prst="roundRect">
            <a:avLst>
              <a:gd name="adj" fmla="val 12000"/>
            </a:avLst>
          </a:prstGeom>
          <a:solidFill>
            <a:srgbClr val="704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64880" y="2575560"/>
            <a:ext cx="2865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为什么不是越低越好？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64880" y="3185160"/>
            <a:ext cx="28270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D8D0D4"/>
                </a:solidFill>
                <a:latin typeface="Microsoft YaHei"/>
              </a:rPr>
              <a:t>τ 太小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64880" y="3489960"/>
            <a:ext cx="2827020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crosoft YaHei"/>
              </a:rPr>
              <a:t>过度截断，丢失仍可学习的后续状态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64880" y="4038600"/>
            <a:ext cx="28270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D8D0D4"/>
                </a:solidFill>
                <a:latin typeface="Microsoft YaHei"/>
              </a:rPr>
              <a:t>τ 太大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64880" y="4343400"/>
            <a:ext cx="2827020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crosoft YaHei"/>
              </a:rPr>
              <a:t>过滤太弱，漂移 suffix 重新进入 loss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64880" y="4892040"/>
            <a:ext cx="28270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D8D0D4"/>
                </a:solidFill>
                <a:latin typeface="Microsoft YaHei"/>
              </a:rPr>
              <a:t>τ = 0.10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64880" y="5196840"/>
            <a:ext cx="2827020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crosoft YaHei"/>
              </a:rPr>
              <a:t>在过滤强度与状态覆盖之间取得平衡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1960" y="6362700"/>
            <a:ext cx="9845040" cy="220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16A6E"/>
                </a:solidFill>
                <a:latin typeface="Microsoft YaHei"/>
              </a:rPr>
              <a:t>四个阈值均为 fresh 250-step、4-GPU、seed 42 训练；评测协议完全一致。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41960" y="190500"/>
            <a:ext cx="1130808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70485B"/>
                </a:solidFill>
                <a:latin typeface="Microsoft YaHei"/>
              </a:rPr>
              <a:t>改进效果：τ = 0.10 在最终 full274 取得最高观测成绩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41960" y="868680"/>
            <a:ext cx="11308080" cy="0"/>
          </a:xfrm>
          <a:prstGeom prst="line">
            <a:avLst/>
          </a:prstGeom>
          <a:ln w="15240">
            <a:solidFill>
              <a:srgbClr val="D8D0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049000" y="6416040"/>
            <a:ext cx="701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16A6E"/>
                </a:solidFill>
                <a:latin typeface="Aptos"/>
              </a:rPr>
              <a:t>09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1960" y="1143000"/>
            <a:ext cx="7444740" cy="4800600"/>
          </a:xfrm>
          <a:prstGeom prst="roundRect">
            <a:avLst>
              <a:gd name="adj" fmla="val 12000"/>
            </a:avLst>
          </a:prstGeom>
          <a:solidFill>
            <a:srgbClr val="F4F0F2"/>
          </a:solidFill>
          <a:ln w="12700">
            <a:solidFill>
              <a:srgbClr val="D8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1040" y="1356360"/>
            <a:ext cx="3108960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0485B"/>
                </a:solidFill>
                <a:latin typeface="Aptos"/>
              </a:rPr>
              <a:t>ALFWorld success rate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82040" y="5334000"/>
            <a:ext cx="6233160" cy="0"/>
          </a:xfrm>
          <a:prstGeom prst="line">
            <a:avLst/>
          </a:prstGeom>
          <a:ln w="13970">
            <a:solidFill>
              <a:srgbClr val="716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562100" y="3913479"/>
            <a:ext cx="1143000" cy="1420520"/>
          </a:xfrm>
          <a:prstGeom prst="roundRect">
            <a:avLst>
              <a:gd name="adj" fmla="val 12000"/>
            </a:avLst>
          </a:prstGeom>
          <a:solidFill>
            <a:srgbClr val="9B7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9700" y="3608679"/>
            <a:ext cx="1447800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9B7184"/>
                </a:solidFill>
                <a:latin typeface="Aptos"/>
              </a:rPr>
              <a:t>79.56%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5524500"/>
            <a:ext cx="167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43033"/>
                </a:solidFill>
                <a:latin typeface="Aptos"/>
              </a:rPr>
              <a:t>Vanilla OPD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05200" y="3154184"/>
            <a:ext cx="1143000" cy="2179815"/>
          </a:xfrm>
          <a:prstGeom prst="roundRect">
            <a:avLst>
              <a:gd name="adj" fmla="val 12000"/>
            </a:avLst>
          </a:prstGeom>
          <a:solidFill>
            <a:srgbClr val="315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52800" y="2849384"/>
            <a:ext cx="1447800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15C4A"/>
                </a:solidFill>
                <a:latin typeface="Aptos"/>
              </a:rPr>
              <a:t>84.67%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8500" y="5524500"/>
            <a:ext cx="167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43033"/>
                </a:solidFill>
                <a:latin typeface="Aptos"/>
              </a:rPr>
              <a:t>TCOD-F2B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48300" y="2828772"/>
            <a:ext cx="1143000" cy="2505227"/>
          </a:xfrm>
          <a:prstGeom prst="roundRect">
            <a:avLst>
              <a:gd name="adj" fmla="val 12000"/>
            </a:avLst>
          </a:prstGeom>
          <a:solidFill>
            <a:srgbClr val="8C3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95900" y="2523972"/>
            <a:ext cx="1447800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8C3E49"/>
                </a:solidFill>
                <a:latin typeface="Aptos"/>
              </a:rPr>
              <a:t>86.86%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81600" y="5524500"/>
            <a:ext cx="167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43033"/>
                </a:solidFill>
                <a:latin typeface="Aptos"/>
              </a:rPr>
              <a:t>Entropy Adaptive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82040" y="5334000"/>
            <a:ext cx="6233160" cy="0"/>
          </a:xfrm>
          <a:prstGeom prst="line">
            <a:avLst/>
          </a:prstGeom>
          <a:ln w="8890">
            <a:solidFill>
              <a:srgbClr val="D8D0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85800" y="5257800"/>
            <a:ext cx="3048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16A6E"/>
                </a:solidFill>
                <a:latin typeface="Aptos"/>
              </a:rPr>
              <a:t>70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82040" y="3848099"/>
            <a:ext cx="6233160" cy="0"/>
          </a:xfrm>
          <a:prstGeom prst="line">
            <a:avLst/>
          </a:prstGeom>
          <a:ln w="8890">
            <a:solidFill>
              <a:srgbClr val="D8D0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85800" y="3771900"/>
            <a:ext cx="3048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16A6E"/>
                </a:solidFill>
                <a:latin typeface="Aptos"/>
              </a:rPr>
              <a:t>80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82040" y="2362200"/>
            <a:ext cx="6233160" cy="0"/>
          </a:xfrm>
          <a:prstGeom prst="line">
            <a:avLst/>
          </a:prstGeom>
          <a:ln w="8890">
            <a:solidFill>
              <a:srgbClr val="D8D0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85800" y="2286000"/>
            <a:ext cx="3048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16A6E"/>
                </a:solidFill>
                <a:latin typeface="Aptos"/>
              </a:rPr>
              <a:t>90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1143000"/>
            <a:ext cx="3520440" cy="1508760"/>
          </a:xfrm>
          <a:prstGeom prst="roundRect">
            <a:avLst>
              <a:gd name="adj" fmla="val 12000"/>
            </a:avLst>
          </a:prstGeom>
          <a:solidFill>
            <a:srgbClr val="704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73440" y="1371600"/>
            <a:ext cx="2956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8D0D4"/>
                </a:solidFill>
                <a:latin typeface="Microsoft YaHei"/>
              </a:rPr>
              <a:t>对 Vanilla OPD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73440" y="1706880"/>
            <a:ext cx="2956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ptos"/>
              </a:rPr>
              <a:t>+7.30 pp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73440" y="2225040"/>
            <a:ext cx="295656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EEE3E8"/>
                </a:solidFill>
                <a:latin typeface="Aptos"/>
              </a:rPr>
              <a:t>238 vs 218 / 274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2857500"/>
            <a:ext cx="3520440" cy="1508760"/>
          </a:xfrm>
          <a:prstGeom prst="roundRect">
            <a:avLst>
              <a:gd name="adj" fmla="val 12000"/>
            </a:avLst>
          </a:prstGeom>
          <a:solidFill>
            <a:srgbClr val="E5EEE9"/>
          </a:solidFill>
          <a:ln w="12700">
            <a:solidFill>
              <a:srgbClr val="C7D9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3440" y="3086100"/>
            <a:ext cx="2956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15C4A"/>
                </a:solidFill>
                <a:latin typeface="Microsoft YaHei"/>
              </a:rPr>
              <a:t>对 TCOD-F2B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3440" y="3421380"/>
            <a:ext cx="2956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315C4A"/>
                </a:solidFill>
                <a:latin typeface="Aptos"/>
              </a:rPr>
              <a:t>+2.19 pp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73440" y="3939540"/>
            <a:ext cx="295656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16A6E"/>
                </a:solidFill>
                <a:latin typeface="Aptos"/>
              </a:rPr>
              <a:t>238 vs 232 / 274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0" y="4572000"/>
            <a:ext cx="3520440" cy="1371600"/>
          </a:xfrm>
          <a:prstGeom prst="roundRect">
            <a:avLst>
              <a:gd name="adj" fmla="val 12000"/>
            </a:avLst>
          </a:prstGeom>
          <a:solidFill>
            <a:srgbClr val="EEE3E8"/>
          </a:solidFill>
          <a:ln w="12700">
            <a:solidFill>
              <a:srgbClr val="D8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73440" y="4777740"/>
            <a:ext cx="2956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0485B"/>
                </a:solidFill>
                <a:latin typeface="Microsoft YaHei"/>
              </a:rPr>
              <a:t>泛化拆分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73440" y="5166360"/>
            <a:ext cx="78486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16A6E"/>
                </a:solidFill>
                <a:latin typeface="Aptos"/>
              </a:rPr>
              <a:t>Seen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64040" y="5113020"/>
            <a:ext cx="1851660" cy="297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70485B"/>
                </a:solidFill>
                <a:latin typeface="Aptos"/>
              </a:rPr>
              <a:t>87.86%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73440" y="5570220"/>
            <a:ext cx="78486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16A6E"/>
                </a:solidFill>
                <a:latin typeface="Aptos"/>
              </a:rPr>
              <a:t>Unseen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64040" y="5516880"/>
            <a:ext cx="1851660" cy="297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70485B"/>
                </a:solidFill>
                <a:latin typeface="Aptos"/>
              </a:rPr>
              <a:t>85.82%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1960" y="6362700"/>
            <a:ext cx="9845040" cy="220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16A6E"/>
                </a:solidFill>
                <a:latin typeface="Microsoft YaHei"/>
              </a:rPr>
              <a:t>同协议：140 Seen + 134 Unseen，horizon 30，strict action parser，seed 42。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41960" y="190500"/>
            <a:ext cx="1130808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70485B"/>
                </a:solidFill>
                <a:latin typeface="Microsoft YaHei"/>
              </a:rPr>
              <a:t>为什么能工作：模型越成熟，算法越少干预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41960" y="868680"/>
            <a:ext cx="11308080" cy="0"/>
          </a:xfrm>
          <a:prstGeom prst="line">
            <a:avLst/>
          </a:prstGeom>
          <a:ln w="15240">
            <a:solidFill>
              <a:srgbClr val="D8D0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049000" y="6416040"/>
            <a:ext cx="701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16A6E"/>
                </a:solidFill>
                <a:latin typeface="Aptos"/>
              </a:rPr>
              <a:t>10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1960" y="1066800"/>
            <a:ext cx="1130808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43033"/>
                </a:solidFill>
                <a:latin typeface="Microsoft YaHei"/>
              </a:rPr>
              <a:t>τ = 0.10 学到的不是一条死板 schedule：早期积极过滤，后期自然接近 full-loss。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1960" y="1638300"/>
            <a:ext cx="5463540" cy="2590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8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5320" y="1805940"/>
            <a:ext cx="5097780" cy="2514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F20"/>
                </a:solidFill>
                <a:latin typeface="Microsoft YaHei"/>
              </a:rPr>
              <a:t>Frontier 触发率：48.0% → 9.0%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53440" y="2362200"/>
            <a:ext cx="1198245" cy="403365"/>
          </a:xfrm>
          <a:prstGeom prst="line">
            <a:avLst/>
          </a:prstGeom>
          <a:ln w="30480">
            <a:solidFill>
              <a:srgbClr val="8C3E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051685" y="2765565"/>
            <a:ext cx="1198245" cy="517539"/>
          </a:xfrm>
          <a:prstGeom prst="line">
            <a:avLst/>
          </a:prstGeom>
          <a:ln w="30480">
            <a:solidFill>
              <a:srgbClr val="8C3E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49930" y="3283104"/>
            <a:ext cx="1198245" cy="332606"/>
          </a:xfrm>
          <a:prstGeom prst="line">
            <a:avLst/>
          </a:prstGeom>
          <a:ln w="30480">
            <a:solidFill>
              <a:srgbClr val="8C3E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448175" y="3615710"/>
            <a:ext cx="1198245" cy="79990"/>
          </a:xfrm>
          <a:prstGeom prst="line">
            <a:avLst/>
          </a:prstGeom>
          <a:ln w="30480">
            <a:solidFill>
              <a:srgbClr val="8C3E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807720" y="2316480"/>
            <a:ext cx="91440" cy="91440"/>
          </a:xfrm>
          <a:prstGeom prst="ellipse">
            <a:avLst/>
          </a:prstGeom>
          <a:solidFill>
            <a:srgbClr val="8C3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7680" y="2095499"/>
            <a:ext cx="73152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8C3E49"/>
                </a:solidFill>
                <a:latin typeface="Aptos"/>
              </a:rPr>
              <a:t>48.0%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0540" y="3794760"/>
            <a:ext cx="6858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16A6E"/>
                </a:solidFill>
                <a:latin typeface="Aptos"/>
              </a:rPr>
              <a:t>0–20</a:t>
            </a:r>
          </a:p>
        </p:txBody>
      </p:sp>
      <p:sp>
        <p:nvSpPr>
          <p:cNvPr id="15" name="Oval 14"/>
          <p:cNvSpPr/>
          <p:nvPr/>
        </p:nvSpPr>
        <p:spPr>
          <a:xfrm>
            <a:off x="2005965" y="2719845"/>
            <a:ext cx="91440" cy="91440"/>
          </a:xfrm>
          <a:prstGeom prst="ellipse">
            <a:avLst/>
          </a:prstGeom>
          <a:solidFill>
            <a:srgbClr val="8C3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08785" y="3794760"/>
            <a:ext cx="6858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16A6E"/>
                </a:solidFill>
                <a:latin typeface="Aptos"/>
              </a:rPr>
              <a:t>20–40</a:t>
            </a:r>
          </a:p>
        </p:txBody>
      </p:sp>
      <p:sp>
        <p:nvSpPr>
          <p:cNvPr id="17" name="Oval 16"/>
          <p:cNvSpPr/>
          <p:nvPr/>
        </p:nvSpPr>
        <p:spPr>
          <a:xfrm>
            <a:off x="3204210" y="3237384"/>
            <a:ext cx="91440" cy="91440"/>
          </a:xfrm>
          <a:prstGeom prst="ellipse">
            <a:avLst/>
          </a:prstGeom>
          <a:solidFill>
            <a:srgbClr val="8C3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07030" y="3794760"/>
            <a:ext cx="6858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16A6E"/>
                </a:solidFill>
                <a:latin typeface="Aptos"/>
              </a:rPr>
              <a:t>40–60</a:t>
            </a:r>
          </a:p>
        </p:txBody>
      </p:sp>
      <p:sp>
        <p:nvSpPr>
          <p:cNvPr id="19" name="Oval 18"/>
          <p:cNvSpPr/>
          <p:nvPr/>
        </p:nvSpPr>
        <p:spPr>
          <a:xfrm>
            <a:off x="4402455" y="3569990"/>
            <a:ext cx="91440" cy="91440"/>
          </a:xfrm>
          <a:prstGeom prst="ellipse">
            <a:avLst/>
          </a:prstGeom>
          <a:solidFill>
            <a:srgbClr val="8C3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05274" y="3794760"/>
            <a:ext cx="6858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16A6E"/>
                </a:solidFill>
                <a:latin typeface="Aptos"/>
              </a:rPr>
              <a:t>60–80</a:t>
            </a:r>
          </a:p>
        </p:txBody>
      </p:sp>
      <p:sp>
        <p:nvSpPr>
          <p:cNvPr id="21" name="Oval 20"/>
          <p:cNvSpPr/>
          <p:nvPr/>
        </p:nvSpPr>
        <p:spPr>
          <a:xfrm>
            <a:off x="5600700" y="3649980"/>
            <a:ext cx="91440" cy="91440"/>
          </a:xfrm>
          <a:prstGeom prst="ellipse">
            <a:avLst/>
          </a:prstGeom>
          <a:solidFill>
            <a:srgbClr val="8C3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80660" y="3429000"/>
            <a:ext cx="73152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8C3E49"/>
                </a:solidFill>
                <a:latin typeface="Aptos"/>
              </a:rPr>
              <a:t>9.0%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3794760"/>
            <a:ext cx="6858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16A6E"/>
                </a:solidFill>
                <a:latin typeface="Aptos"/>
              </a:rPr>
              <a:t>80–100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86500" y="1638300"/>
            <a:ext cx="5463540" cy="2590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8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9860" y="1805940"/>
            <a:ext cx="5097780" cy="2514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F20"/>
                </a:solidFill>
                <a:latin typeface="Microsoft YaHei"/>
              </a:rPr>
              <a:t>平均可蒸馏 horizon：20.0 → 28.2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6697980" y="3351780"/>
            <a:ext cx="1198244" cy="343920"/>
          </a:xfrm>
          <a:prstGeom prst="line">
            <a:avLst/>
          </a:prstGeom>
          <a:ln w="30480">
            <a:solidFill>
              <a:srgbClr val="315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7896224" y="2779121"/>
            <a:ext cx="1198246" cy="572659"/>
          </a:xfrm>
          <a:prstGeom prst="line">
            <a:avLst/>
          </a:prstGeom>
          <a:ln w="30480">
            <a:solidFill>
              <a:srgbClr val="315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9094470" y="2464402"/>
            <a:ext cx="1198245" cy="314719"/>
          </a:xfrm>
          <a:prstGeom prst="line">
            <a:avLst/>
          </a:prstGeom>
          <a:ln w="30480">
            <a:solidFill>
              <a:srgbClr val="315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0292715" y="2362200"/>
            <a:ext cx="1198245" cy="102202"/>
          </a:xfrm>
          <a:prstGeom prst="line">
            <a:avLst/>
          </a:prstGeom>
          <a:ln w="30480">
            <a:solidFill>
              <a:srgbClr val="315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6652260" y="3649980"/>
            <a:ext cx="91440" cy="91440"/>
          </a:xfrm>
          <a:prstGeom prst="ellipse">
            <a:avLst/>
          </a:prstGeom>
          <a:solidFill>
            <a:srgbClr val="315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2220" y="3429000"/>
            <a:ext cx="73152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15C4A"/>
                </a:solidFill>
                <a:latin typeface="Aptos"/>
              </a:rPr>
              <a:t>20.0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3794760"/>
            <a:ext cx="6858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16A6E"/>
                </a:solidFill>
                <a:latin typeface="Aptos"/>
              </a:rPr>
              <a:t>0–20</a:t>
            </a:r>
          </a:p>
        </p:txBody>
      </p:sp>
      <p:sp>
        <p:nvSpPr>
          <p:cNvPr id="33" name="Oval 32"/>
          <p:cNvSpPr/>
          <p:nvPr/>
        </p:nvSpPr>
        <p:spPr>
          <a:xfrm>
            <a:off x="7850505" y="3306060"/>
            <a:ext cx="91440" cy="91440"/>
          </a:xfrm>
          <a:prstGeom prst="ellipse">
            <a:avLst/>
          </a:prstGeom>
          <a:solidFill>
            <a:srgbClr val="315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53324" y="3794760"/>
            <a:ext cx="6858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16A6E"/>
                </a:solidFill>
                <a:latin typeface="Aptos"/>
              </a:rPr>
              <a:t>20–40</a:t>
            </a:r>
          </a:p>
        </p:txBody>
      </p:sp>
      <p:sp>
        <p:nvSpPr>
          <p:cNvPr id="35" name="Oval 34"/>
          <p:cNvSpPr/>
          <p:nvPr/>
        </p:nvSpPr>
        <p:spPr>
          <a:xfrm>
            <a:off x="9048750" y="2733401"/>
            <a:ext cx="91440" cy="91440"/>
          </a:xfrm>
          <a:prstGeom prst="ellipse">
            <a:avLst/>
          </a:prstGeom>
          <a:solidFill>
            <a:srgbClr val="315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51570" y="3794760"/>
            <a:ext cx="6858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16A6E"/>
                </a:solidFill>
                <a:latin typeface="Aptos"/>
              </a:rPr>
              <a:t>40–60</a:t>
            </a:r>
          </a:p>
        </p:txBody>
      </p:sp>
      <p:sp>
        <p:nvSpPr>
          <p:cNvPr id="37" name="Oval 36"/>
          <p:cNvSpPr/>
          <p:nvPr/>
        </p:nvSpPr>
        <p:spPr>
          <a:xfrm>
            <a:off x="10246995" y="2418682"/>
            <a:ext cx="91440" cy="91440"/>
          </a:xfrm>
          <a:prstGeom prst="ellipse">
            <a:avLst/>
          </a:prstGeom>
          <a:solidFill>
            <a:srgbClr val="315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49815" y="3794760"/>
            <a:ext cx="6858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16A6E"/>
                </a:solidFill>
                <a:latin typeface="Aptos"/>
              </a:rPr>
              <a:t>60–80</a:t>
            </a:r>
          </a:p>
        </p:txBody>
      </p:sp>
      <p:sp>
        <p:nvSpPr>
          <p:cNvPr id="39" name="Oval 38"/>
          <p:cNvSpPr/>
          <p:nvPr/>
        </p:nvSpPr>
        <p:spPr>
          <a:xfrm>
            <a:off x="11445240" y="2316480"/>
            <a:ext cx="91440" cy="91440"/>
          </a:xfrm>
          <a:prstGeom prst="ellipse">
            <a:avLst/>
          </a:prstGeom>
          <a:solidFill>
            <a:srgbClr val="315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125200" y="2095499"/>
            <a:ext cx="73152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15C4A"/>
                </a:solidFill>
                <a:latin typeface="Aptos"/>
              </a:rPr>
              <a:t>28.2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48060" y="3794760"/>
            <a:ext cx="6858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16A6E"/>
                </a:solidFill>
                <a:latin typeface="Aptos"/>
              </a:rPr>
              <a:t>80–100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41960" y="4511040"/>
            <a:ext cx="5577840" cy="1661160"/>
          </a:xfrm>
          <a:prstGeom prst="roundRect">
            <a:avLst>
              <a:gd name="adj" fmla="val 12000"/>
            </a:avLst>
          </a:prstGeom>
          <a:solidFill>
            <a:srgbClr val="704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01040" y="4724400"/>
            <a:ext cx="158496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D8D0D4"/>
                </a:solidFill>
                <a:latin typeface="Microsoft YaHei"/>
              </a:rPr>
              <a:t>我们的结论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1040" y="5105400"/>
            <a:ext cx="4937760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相对熵漂移是一个有效的 trajectory-level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筛选信号；关键不在“熵越低越好”，而在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过滤强度与长程状态覆盖之间的平衡。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362700" y="4511040"/>
            <a:ext cx="5387340" cy="1661160"/>
          </a:xfrm>
          <a:prstGeom prst="roundRect">
            <a:avLst>
              <a:gd name="adj" fmla="val 12000"/>
            </a:avLst>
          </a:prstGeom>
          <a:solidFill>
            <a:srgbClr val="EEE3E8"/>
          </a:solidFill>
          <a:ln w="12700">
            <a:solidFill>
              <a:srgbClr val="D8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21780" y="4724400"/>
            <a:ext cx="473202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70485B"/>
                </a:solidFill>
                <a:latin typeface="Microsoft YaHei"/>
              </a:rPr>
              <a:t>证据边界 / 下一步</a:t>
            </a:r>
          </a:p>
        </p:txBody>
      </p:sp>
      <p:sp>
        <p:nvSpPr>
          <p:cNvPr id="47" name="Oval 46"/>
          <p:cNvSpPr/>
          <p:nvPr/>
        </p:nvSpPr>
        <p:spPr>
          <a:xfrm>
            <a:off x="6637020" y="5158740"/>
            <a:ext cx="76200" cy="76200"/>
          </a:xfrm>
          <a:prstGeom prst="ellipse">
            <a:avLst/>
          </a:prstGeom>
          <a:solidFill>
            <a:srgbClr val="9B7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19900" y="5105400"/>
            <a:ext cx="454152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43033"/>
                </a:solidFill>
                <a:latin typeface="Microsoft YaHei"/>
              </a:rPr>
              <a:t>优势最强在 final checkpoint，并非全训练阶段持续领先。</a:t>
            </a:r>
          </a:p>
        </p:txBody>
      </p:sp>
      <p:sp>
        <p:nvSpPr>
          <p:cNvPr id="49" name="Oval 48"/>
          <p:cNvSpPr/>
          <p:nvPr/>
        </p:nvSpPr>
        <p:spPr>
          <a:xfrm>
            <a:off x="6637020" y="5516880"/>
            <a:ext cx="76200" cy="76200"/>
          </a:xfrm>
          <a:prstGeom prst="ellipse">
            <a:avLst/>
          </a:prstGeom>
          <a:solidFill>
            <a:srgbClr val="9B7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19900" y="5463540"/>
            <a:ext cx="454152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43033"/>
                </a:solidFill>
                <a:latin typeface="Microsoft YaHei"/>
              </a:rPr>
              <a:t>对 TCOD 的 +2.19 pp 在单种子 McNemar 检验下尚不显著（p=.362）。</a:t>
            </a:r>
          </a:p>
        </p:txBody>
      </p:sp>
      <p:sp>
        <p:nvSpPr>
          <p:cNvPr id="51" name="Oval 50"/>
          <p:cNvSpPr/>
          <p:nvPr/>
        </p:nvSpPr>
        <p:spPr>
          <a:xfrm>
            <a:off x="6637020" y="5875020"/>
            <a:ext cx="76200" cy="76200"/>
          </a:xfrm>
          <a:prstGeom prst="ellipse">
            <a:avLst/>
          </a:prstGeom>
          <a:solidFill>
            <a:srgbClr val="9B7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19900" y="5821680"/>
            <a:ext cx="454152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43033"/>
                </a:solidFill>
                <a:latin typeface="Microsoft YaHei"/>
              </a:rPr>
              <a:t>当前仍跑完整 rollout；下一步验证多种子稳定性，并探索连续加权与算力分配。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41960" y="6362700"/>
            <a:ext cx="9845040" cy="220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16A6E"/>
                </a:solidFill>
                <a:latin typeface="Microsoft YaHei"/>
              </a:rPr>
              <a:t>项目一小结 · 下一页将进入 SoftSat，但本次交付按要求在此结束。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9325</Words>
  <Application>WPS 演示</Application>
  <PresentationFormat>Converted Presentation</PresentationFormat>
  <Paragraphs>702</Paragraphs>
  <Slides>39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39</vt:i4>
      </vt:variant>
    </vt:vector>
  </HeadingPairs>
  <TitlesOfParts>
    <vt:vector size="50" baseType="lpstr">
      <vt:lpstr>Arial</vt:lpstr>
      <vt:lpstr>宋体</vt:lpstr>
      <vt:lpstr>Wingdings</vt:lpstr>
      <vt:lpstr>Calibri</vt:lpstr>
      <vt:lpstr>Helvetica Neue</vt:lpstr>
      <vt:lpstr>微软雅黑</vt:lpstr>
      <vt:lpstr>方正雅意黑 GB18030L2</vt:lpstr>
      <vt:lpstr>汉仪书宋二KW</vt:lpstr>
      <vt:lpstr>宋体</vt:lpstr>
      <vt:lpstr>Arial Unicode MS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孙家兴｜面试自我介绍｜熵自适应策略蒸馏</dc:title>
  <dc:creator>孙家兴</dc:creator>
  <cp:lastModifiedBy>＝.＝</cp:lastModifiedBy>
  <cp:revision>1</cp:revision>
  <dcterms:created xsi:type="dcterms:W3CDTF">2026-08-03T05:12:25Z</dcterms:created>
  <dcterms:modified xsi:type="dcterms:W3CDTF">2026-08-03T05:12:25Z</dcterms:modified>
  <dc:subject>Editable interview presentation</dc:subject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2052-12.1.26030.26030</vt:lpwstr>
  </property>
  <property fmtid="{D5CDD505-2E9C-101B-9397-08002B2CF9AE}" pid="3" name="ICV">
    <vt:lpwstr>E3481D11CBF10FC13923706A65DF26B2_42</vt:lpwstr>
  </property>
</Properties>
</file>